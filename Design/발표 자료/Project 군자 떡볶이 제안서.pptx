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256" r:id="rId2"/>
    <p:sldId id="257" r:id="rId3"/>
    <p:sldId id="260" r:id="rId4"/>
    <p:sldId id="268" r:id="rId5"/>
    <p:sldId id="282" r:id="rId6"/>
    <p:sldId id="266" r:id="rId7"/>
    <p:sldId id="267" r:id="rId8"/>
    <p:sldId id="279" r:id="rId9"/>
    <p:sldId id="259" r:id="rId10"/>
    <p:sldId id="270" r:id="rId11"/>
    <p:sldId id="262" r:id="rId12"/>
    <p:sldId id="273" r:id="rId13"/>
    <p:sldId id="274" r:id="rId14"/>
    <p:sldId id="275" r:id="rId15"/>
    <p:sldId id="276" r:id="rId16"/>
    <p:sldId id="277" r:id="rId17"/>
    <p:sldId id="265" r:id="rId18"/>
    <p:sldId id="264" r:id="rId19"/>
    <p:sldId id="281" r:id="rId20"/>
    <p:sldId id="278" r:id="rId21"/>
  </p:sldIdLst>
  <p:sldSz cx="18288000" cy="10287000"/>
  <p:notesSz cx="6858000" cy="9144000"/>
  <p:embeddedFontLst>
    <p:embeddedFont>
      <p:font typeface="Pretendard Bold" panose="020B0600000101010101" charset="-127"/>
      <p:bold r:id="rId24"/>
    </p:embeddedFont>
    <p:embeddedFont>
      <p:font typeface="Pretendard Regular" panose="020B0600000101010101" charset="-127"/>
      <p:regular r:id="rId25"/>
    </p:embeddedFont>
    <p:embeddedFont>
      <p:font typeface="Baskerville Old Face" panose="02020602080505020303" pitchFamily="18" charset="0"/>
      <p:regular r:id="rId26"/>
    </p:embeddedFont>
    <p:embeddedFont>
      <p:font typeface="Pretendard Light" panose="02000403000000020004" pitchFamily="50" charset="-127"/>
      <p:regular r:id="rId27"/>
    </p:embeddedFont>
    <p:embeddedFont>
      <p:font typeface="Pretendard Medium" panose="02000603000000020004" pitchFamily="50" charset="-127"/>
      <p:regular r:id="rId28"/>
      <p:bold r:id="rId29"/>
    </p:embeddedFont>
    <p:embeddedFont>
      <p:font typeface="Pretendard SemiBold" panose="02000703000000020004" pitchFamily="50" charset="-127"/>
      <p:bold r:id="rId30"/>
    </p:embeddedFont>
    <p:embeddedFont>
      <p:font typeface="맑은 고딕" panose="020B0503020000020004" pitchFamily="50" charset="-127"/>
      <p:regular r:id="rId31"/>
      <p:bold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2" autoAdjust="0"/>
    <p:restoredTop sz="95726" autoAdjust="0"/>
  </p:normalViewPr>
  <p:slideViewPr>
    <p:cSldViewPr>
      <p:cViewPr varScale="1">
        <p:scale>
          <a:sx n="70" d="100"/>
          <a:sy n="70" d="100"/>
        </p:scale>
        <p:origin x="774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28" Type="http://schemas.openxmlformats.org/officeDocument/2006/relationships/font" Target="fonts/font5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5D01782F-7B61-EE97-6703-B7D8624AFAA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C1D4DE2-A121-8521-F7BD-E5412721764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B4D419-4DB2-4DC5-8D2B-90923F2E03F0}" type="datetimeFigureOut">
              <a:rPr lang="ko-KR" altLang="en-US" smtClean="0"/>
              <a:t>2025-07-15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3D6F070-28DE-9407-8C20-0215D37CF12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4406CE1-E7FA-5137-2C64-6BEC44BF1C8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9CC140-BC24-4174-B23D-7DCE608EF0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976625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5C091A-1F43-49A8-BDE6-3B8D68A90A3F}" type="datetimeFigureOut">
              <a:rPr lang="ko-KR" altLang="en-US" smtClean="0"/>
              <a:t>2025-07-15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035EF0-084B-4978-9AAF-C0C635094E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458632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E6B50-EA27-42F1-9F80-563A3102C2BA}" type="datetime1">
              <a:rPr lang="en-US" altLang="ko-KR" smtClean="0"/>
              <a:t>7/15/2025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96A9F-B566-4448-95FD-E7C5713FE91C}" type="datetime1">
              <a:rPr lang="en-US" altLang="ko-KR" smtClean="0"/>
              <a:t>7/15/2025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D990B3-A0DE-4C5A-BBDD-F85FB55B7DB0}" type="datetime1">
              <a:rPr lang="en-US" altLang="ko-KR" smtClean="0"/>
              <a:t>7/15/2025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5181F-54A7-4CD0-B6A4-D2963598A387}" type="datetime1">
              <a:rPr lang="en-US" altLang="ko-KR" smtClean="0"/>
              <a:t>7/15/2025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48D84-1CA6-4FFF-9E29-79B5EA27078F}" type="datetime1">
              <a:rPr lang="en-US" altLang="ko-KR" smtClean="0"/>
              <a:t>7/15/2025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3358F-FB85-479B-9EAC-D62D1D29C862}" type="datetime1">
              <a:rPr lang="en-US" altLang="ko-KR" smtClean="0"/>
              <a:t>7/15/2025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1AAB7-D070-484C-A176-207E64E661B3}" type="datetime1">
              <a:rPr lang="en-US" altLang="ko-KR" smtClean="0"/>
              <a:t>7/15/2025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15168-6688-440D-9447-38BCFA93016C}" type="datetime1">
              <a:rPr lang="en-US" altLang="ko-KR" smtClean="0"/>
              <a:t>7/15/2025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A2E6B-2ABD-46B6-861B-7F4D3CAA8604}" type="datetime1">
              <a:rPr lang="en-US" altLang="ko-KR" smtClean="0"/>
              <a:t>7/15/2025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668AB-7C8A-4AA3-8FC2-1FE8BEC7C373}" type="datetime1">
              <a:rPr lang="en-US" altLang="ko-KR" smtClean="0"/>
              <a:t>7/15/2025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724D9-F632-4307-930B-A203D2BD3758}" type="datetime1">
              <a:rPr lang="en-US" altLang="ko-KR" smtClean="0"/>
              <a:t>7/15/2025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E7CFE1-8644-1A1F-B20A-E00BA027E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82FED17-ED41-3172-A41A-DBAC4A127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4E0E2-E3A4-4D51-ABF2-17269DEB0C4C}" type="datetime1">
              <a:rPr lang="en-US" altLang="ko-KR" smtClean="0"/>
              <a:t>7/15/2025</a:t>
            </a:fld>
            <a:endParaRPr 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1FCCBC2-555E-4220-A030-ED697A91A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341FEEC-B316-A89E-1E6C-3B993C471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8989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B809EE-37DA-4F0B-84BC-5B0E9B2C2AD2}" type="datetime1">
              <a:rPr lang="en-US" altLang="ko-KR" smtClean="0"/>
              <a:t>7/15/2025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gi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gif"/><Relationship Id="rId4" Type="http://schemas.openxmlformats.org/officeDocument/2006/relationships/image" Target="../media/image20.gi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gi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gi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048000" y="1714500"/>
            <a:ext cx="17145000" cy="17145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79600" y="-3898900"/>
            <a:ext cx="6667500" cy="66675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1219200" y="4978400"/>
            <a:ext cx="8661400" cy="2108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5449"/>
              </a:lnSpc>
            </a:pPr>
            <a:r>
              <a:rPr lang="en-US" altLang="ko-KR" sz="6500" dirty="0">
                <a:solidFill>
                  <a:srgbClr val="323232"/>
                </a:solidFill>
                <a:latin typeface="Pretendard SemiBold" panose="02000703000000020004" charset="-127"/>
                <a:ea typeface="Pretendard SemiBold" panose="02000703000000020004" charset="-127"/>
                <a:cs typeface="KoPubWorld돋움체 Bold" panose="00000800000000000000" pitchFamily="2" charset="-127"/>
              </a:rPr>
              <a:t>Project </a:t>
            </a:r>
            <a:r>
              <a:rPr lang="ko-KR" altLang="en-US" sz="6500" dirty="0">
                <a:solidFill>
                  <a:srgbClr val="323232"/>
                </a:solidFill>
                <a:latin typeface="Pretendard SemiBold" panose="02000703000000020004" charset="-127"/>
                <a:ea typeface="Pretendard SemiBold" panose="02000703000000020004" charset="-127"/>
                <a:cs typeface="KoPubWorld돋움체 Bold" panose="00000800000000000000" pitchFamily="2" charset="-127"/>
              </a:rPr>
              <a:t>군자 떡볶이</a:t>
            </a:r>
            <a:endParaRPr lang="ko-KR" sz="6500" b="0" i="0" u="none" strike="noStrike" dirty="0">
              <a:solidFill>
                <a:srgbClr val="323232"/>
              </a:solidFill>
              <a:latin typeface="Pretendard SemiBold" panose="02000703000000020004" charset="-127"/>
              <a:ea typeface="Pretendard SemiBold" panose="02000703000000020004" charset="-127"/>
              <a:cs typeface="KoPubWorld돋움체 Bold" panose="00000800000000000000" pitchFamily="2" charset="-127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219200" y="6718299"/>
            <a:ext cx="6337300" cy="711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5449"/>
              </a:lnSpc>
            </a:pPr>
            <a:r>
              <a:rPr lang="en-US" sz="2200" i="1">
                <a:solidFill>
                  <a:srgbClr val="323232"/>
                </a:solidFill>
                <a:latin typeface="Baskerville Old Face"/>
              </a:rPr>
              <a:t>Project Gunja </a:t>
            </a:r>
            <a:r>
              <a:rPr lang="en-US" sz="2200" i="1" dirty="0" err="1">
                <a:solidFill>
                  <a:srgbClr val="323232"/>
                </a:solidFill>
                <a:latin typeface="Baskerville Old Face"/>
              </a:rPr>
              <a:t>Tteokbokki</a:t>
            </a:r>
            <a:r>
              <a:rPr lang="en-US" sz="2200" i="1" dirty="0">
                <a:solidFill>
                  <a:srgbClr val="323232"/>
                </a:solidFill>
                <a:latin typeface="Baskerville Old Face"/>
              </a:rPr>
              <a:t> </a:t>
            </a:r>
            <a:endParaRPr lang="en-US" sz="2200" b="0" i="1" u="none" strike="noStrike" dirty="0">
              <a:solidFill>
                <a:srgbClr val="323232"/>
              </a:solidFill>
              <a:latin typeface="Baskerville Old Face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8521700" y="558800"/>
            <a:ext cx="91186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5449"/>
              </a:lnSpc>
            </a:pPr>
            <a:r>
              <a:rPr lang="en-US" sz="1800" b="0" i="0" u="none" strike="noStrike" dirty="0">
                <a:solidFill>
                  <a:srgbClr val="323232">
                    <a:alpha val="80000"/>
                  </a:srgbClr>
                </a:solidFill>
                <a:latin typeface="Pretendard Medium"/>
              </a:rPr>
              <a:t>PANDORA</a:t>
            </a:r>
            <a:r>
              <a:rPr lang="ko-KR" altLang="en-US" sz="1800" b="0" i="0" u="none" strike="noStrike" dirty="0">
                <a:solidFill>
                  <a:srgbClr val="323232">
                    <a:alpha val="80000"/>
                  </a:srgbClr>
                </a:solidFill>
                <a:latin typeface="Pretendard Medium"/>
              </a:rPr>
              <a:t> </a:t>
            </a:r>
            <a:r>
              <a:rPr lang="en-US" altLang="ko-KR" sz="1800" b="0" i="0" u="none" strike="noStrike" dirty="0">
                <a:solidFill>
                  <a:srgbClr val="323232">
                    <a:alpha val="80000"/>
                  </a:srgbClr>
                </a:solidFill>
                <a:latin typeface="Pretendard Medium"/>
              </a:rPr>
              <a:t>CUBE</a:t>
            </a:r>
            <a:endParaRPr lang="en-US" sz="1800" b="0" i="0" u="none" strike="noStrike" dirty="0">
              <a:solidFill>
                <a:srgbClr val="323232">
                  <a:alpha val="80000"/>
                </a:srgbClr>
              </a:solidFill>
              <a:latin typeface="Pretendard Medium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219200" y="9296400"/>
            <a:ext cx="5016500" cy="342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5449"/>
              </a:lnSpc>
            </a:pPr>
            <a:r>
              <a:rPr lang="ko-KR" altLang="en-US" sz="2000" b="0" i="0" u="none" strike="noStrike" spc="100" dirty="0">
                <a:solidFill>
                  <a:srgbClr val="323232"/>
                </a:solidFill>
                <a:ea typeface="Pretendard Medium"/>
              </a:rPr>
              <a:t>판도라큐브 프로그래밍 파트 </a:t>
            </a:r>
            <a:r>
              <a:rPr lang="ko-KR" altLang="en-US" sz="2000" spc="100" dirty="0">
                <a:solidFill>
                  <a:srgbClr val="323232"/>
                </a:solidFill>
                <a:ea typeface="Pretendard Medium"/>
              </a:rPr>
              <a:t>신혜원</a:t>
            </a:r>
            <a:endParaRPr lang="ko-KR" sz="2000" b="0" i="0" u="none" strike="noStrike" spc="100" dirty="0">
              <a:solidFill>
                <a:srgbClr val="323232"/>
              </a:solidFill>
              <a:ea typeface="Pretendard Medium"/>
            </a:endParaRPr>
          </a:p>
        </p:txBody>
      </p:sp>
      <p:pic>
        <p:nvPicPr>
          <p:cNvPr id="10" name="그림 9" descr="폰트, 스크린샷, 그래픽, 로고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E43C90CB-9B3D-C786-CE1F-90F9876B941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266700"/>
            <a:ext cx="2286000" cy="1078993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E100A55-24C7-9A50-18C3-554B627B3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925800" y="9728200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651000" y="-6578600"/>
            <a:ext cx="13373100" cy="133731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1346200" y="2717800"/>
            <a:ext cx="1854200" cy="1168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5449"/>
              </a:lnSpc>
            </a:pPr>
            <a:r>
              <a:rPr lang="ko-KR" sz="6500" b="0" i="0" u="none" strike="noStrike">
                <a:solidFill>
                  <a:srgbClr val="323232"/>
                </a:solidFill>
                <a:ea typeface="Pretendard SemiBold"/>
              </a:rPr>
              <a:t>목차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346200" y="3924300"/>
            <a:ext cx="6337300" cy="419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5449"/>
              </a:lnSpc>
            </a:pPr>
            <a:r>
              <a:rPr lang="en-US" sz="2400" b="0" i="1" u="none" strike="noStrike" dirty="0">
                <a:solidFill>
                  <a:srgbClr val="323232"/>
                </a:solidFill>
                <a:latin typeface="Baskerville Old Face"/>
              </a:rPr>
              <a:t>Table of Contents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787400" y="6616700"/>
            <a:ext cx="1117600" cy="38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5700" y="6019800"/>
            <a:ext cx="381000" cy="3810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1219200" y="6019800"/>
            <a:ext cx="254000" cy="342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5449"/>
              </a:lnSpc>
            </a:pPr>
            <a:r>
              <a:rPr lang="en-US" sz="2000" b="0" i="0" u="none" strike="noStrike">
                <a:solidFill>
                  <a:srgbClr val="FAFAFA"/>
                </a:solidFill>
                <a:latin typeface="Pretendard Bold"/>
              </a:rPr>
              <a:t>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790700" y="6350000"/>
            <a:ext cx="5016500" cy="558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>
              <a:lnSpc>
                <a:spcPct val="95449"/>
              </a:lnSpc>
            </a:pPr>
            <a:r>
              <a:rPr lang="ko-KR" altLang="en-US" sz="3200" dirty="0">
                <a:solidFill>
                  <a:srgbClr val="323232"/>
                </a:solidFill>
                <a:ea typeface="Pretendard Medium"/>
              </a:rPr>
              <a:t>프로젝트 개요</a:t>
            </a:r>
            <a:endParaRPr lang="ko-KR" sz="3200" b="0" i="0" u="none" strike="noStrike" dirty="0">
              <a:solidFill>
                <a:srgbClr val="323232"/>
              </a:solidFill>
              <a:ea typeface="Pretendard Medium"/>
            </a:endParaRPr>
          </a:p>
        </p:txBody>
      </p:sp>
      <p:grpSp>
        <p:nvGrpSpPr>
          <p:cNvPr id="12" name="Group 1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3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787400" y="8356600"/>
            <a:ext cx="1117600" cy="381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5700" y="7747000"/>
            <a:ext cx="381000" cy="3810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1219200" y="7759700"/>
            <a:ext cx="254000" cy="342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5449"/>
              </a:lnSpc>
            </a:pPr>
            <a:r>
              <a:rPr lang="en-US" sz="2000" b="0" i="0" u="none" strike="noStrike">
                <a:solidFill>
                  <a:srgbClr val="FAFAFA"/>
                </a:solidFill>
                <a:latin typeface="Pretendard Bold"/>
              </a:rPr>
              <a:t>2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790700" y="8089900"/>
            <a:ext cx="5016500" cy="558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>
              <a:lnSpc>
                <a:spcPct val="95449"/>
              </a:lnSpc>
            </a:pPr>
            <a:r>
              <a:rPr lang="ko-KR" altLang="en-US" sz="3200" dirty="0">
                <a:solidFill>
                  <a:srgbClr val="323232"/>
                </a:solidFill>
                <a:ea typeface="Pretendard Medium"/>
              </a:rPr>
              <a:t>레퍼런스</a:t>
            </a:r>
            <a:endParaRPr lang="ko-KR" sz="3200" b="0" i="0" u="none" strike="noStrike" dirty="0">
              <a:solidFill>
                <a:srgbClr val="323232"/>
              </a:solidFill>
              <a:ea typeface="Pretendard Medium"/>
            </a:endParaRPr>
          </a:p>
        </p:txBody>
      </p:sp>
      <p:grpSp>
        <p:nvGrpSpPr>
          <p:cNvPr id="18" name="Group 1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9" name="Picture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6299200" y="6616700"/>
            <a:ext cx="1117600" cy="381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6019800"/>
            <a:ext cx="381000" cy="381000"/>
          </a:xfrm>
          <a:prstGeom prst="rect">
            <a:avLst/>
          </a:prstGeom>
        </p:spPr>
      </p:pic>
      <p:sp>
        <p:nvSpPr>
          <p:cNvPr id="21" name="TextBox 21"/>
          <p:cNvSpPr txBox="1"/>
          <p:nvPr/>
        </p:nvSpPr>
        <p:spPr>
          <a:xfrm>
            <a:off x="6718300" y="6019800"/>
            <a:ext cx="254000" cy="342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5449"/>
              </a:lnSpc>
            </a:pPr>
            <a:r>
              <a:rPr lang="en-US" sz="2000" b="0" i="0" u="none" strike="noStrike">
                <a:solidFill>
                  <a:srgbClr val="FAFAFA"/>
                </a:solidFill>
                <a:latin typeface="Pretendard Bold"/>
              </a:rPr>
              <a:t>3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302500" y="6350000"/>
            <a:ext cx="5016500" cy="558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5449"/>
              </a:lnSpc>
            </a:pPr>
            <a:r>
              <a:rPr lang="ko-KR" altLang="en-US" sz="3200" b="0" i="0" u="none" strike="noStrike" dirty="0">
                <a:solidFill>
                  <a:srgbClr val="323232"/>
                </a:solidFill>
                <a:ea typeface="Pretendard Medium"/>
              </a:rPr>
              <a:t>게임 플레이 방법</a:t>
            </a:r>
            <a:endParaRPr lang="ko-KR" altLang="ko-KR" sz="3200" b="0" i="0" u="none" strike="noStrike" dirty="0">
              <a:solidFill>
                <a:srgbClr val="323232"/>
              </a:solidFill>
              <a:ea typeface="Pretendard Medium"/>
            </a:endParaRPr>
          </a:p>
        </p:txBody>
      </p:sp>
      <p:grpSp>
        <p:nvGrpSpPr>
          <p:cNvPr id="24" name="Group 2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5" name="Picture 2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6299200" y="8356600"/>
            <a:ext cx="1117600" cy="3810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7747000"/>
            <a:ext cx="381000" cy="381000"/>
          </a:xfrm>
          <a:prstGeom prst="rect">
            <a:avLst/>
          </a:prstGeom>
        </p:spPr>
      </p:pic>
      <p:sp>
        <p:nvSpPr>
          <p:cNvPr id="27" name="TextBox 27"/>
          <p:cNvSpPr txBox="1"/>
          <p:nvPr/>
        </p:nvSpPr>
        <p:spPr>
          <a:xfrm>
            <a:off x="6718300" y="7759700"/>
            <a:ext cx="254000" cy="342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5449"/>
              </a:lnSpc>
            </a:pPr>
            <a:r>
              <a:rPr lang="en-US" sz="2000" b="0" i="0" u="none" strike="noStrike">
                <a:solidFill>
                  <a:srgbClr val="FAFAFA"/>
                </a:solidFill>
                <a:latin typeface="Pretendard Bold"/>
              </a:rPr>
              <a:t>4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302500" y="8089900"/>
            <a:ext cx="5016500" cy="558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5449"/>
              </a:lnSpc>
            </a:pPr>
            <a:r>
              <a:rPr lang="ko-KR" altLang="en-US" sz="3200" dirty="0">
                <a:solidFill>
                  <a:srgbClr val="323232"/>
                </a:solidFill>
                <a:ea typeface="Pretendard Medium"/>
              </a:rPr>
              <a:t>개발 현황</a:t>
            </a:r>
            <a:endParaRPr lang="ko-KR" sz="3200" b="0" i="0" u="none" strike="noStrike" dirty="0">
              <a:solidFill>
                <a:srgbClr val="323232"/>
              </a:solidFill>
              <a:ea typeface="Pretendard Medium"/>
            </a:endParaRPr>
          </a:p>
        </p:txBody>
      </p:sp>
      <p:grpSp>
        <p:nvGrpSpPr>
          <p:cNvPr id="30" name="Group 30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1" name="Picture 3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1798300" y="6616700"/>
            <a:ext cx="1117600" cy="38100"/>
          </a:xfrm>
          <a:prstGeom prst="rect">
            <a:avLst/>
          </a:prstGeom>
        </p:spPr>
      </p:pic>
      <p:pic>
        <p:nvPicPr>
          <p:cNvPr id="32" name="Picture 3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66600" y="6019800"/>
            <a:ext cx="381000" cy="381000"/>
          </a:xfrm>
          <a:prstGeom prst="rect">
            <a:avLst/>
          </a:prstGeom>
        </p:spPr>
      </p:pic>
      <p:sp>
        <p:nvSpPr>
          <p:cNvPr id="33" name="TextBox 33"/>
          <p:cNvSpPr txBox="1"/>
          <p:nvPr/>
        </p:nvSpPr>
        <p:spPr>
          <a:xfrm>
            <a:off x="12230100" y="6019800"/>
            <a:ext cx="254000" cy="342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5449"/>
              </a:lnSpc>
            </a:pPr>
            <a:r>
              <a:rPr lang="en-US" sz="2000" b="0" i="0" u="none" strike="noStrike">
                <a:solidFill>
                  <a:srgbClr val="FAFAFA"/>
                </a:solidFill>
                <a:latin typeface="Pretendard Bold"/>
              </a:rPr>
              <a:t>5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2801600" y="6350000"/>
            <a:ext cx="5016500" cy="558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5449"/>
              </a:lnSpc>
            </a:pPr>
            <a:r>
              <a:rPr lang="ko-KR" altLang="en-US" sz="3200" b="0" i="0" u="none" strike="noStrike" dirty="0">
                <a:solidFill>
                  <a:srgbClr val="323232"/>
                </a:solidFill>
                <a:ea typeface="Pretendard Medium"/>
              </a:rPr>
              <a:t>개발 계획</a:t>
            </a:r>
            <a:endParaRPr lang="ko-KR" sz="3200" b="0" i="0" u="none" strike="noStrike" dirty="0">
              <a:solidFill>
                <a:srgbClr val="323232"/>
              </a:solidFill>
              <a:ea typeface="Pretendard Medium"/>
            </a:endParaRPr>
          </a:p>
        </p:txBody>
      </p:sp>
      <p:grpSp>
        <p:nvGrpSpPr>
          <p:cNvPr id="36" name="Group 3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7" name="Picture 3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1798300" y="8356600"/>
            <a:ext cx="1117600" cy="38100"/>
          </a:xfrm>
          <a:prstGeom prst="rect">
            <a:avLst/>
          </a:prstGeom>
        </p:spPr>
      </p:pic>
      <p:pic>
        <p:nvPicPr>
          <p:cNvPr id="38" name="Picture 3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66600" y="7747000"/>
            <a:ext cx="381000" cy="381000"/>
          </a:xfrm>
          <a:prstGeom prst="rect">
            <a:avLst/>
          </a:prstGeom>
        </p:spPr>
      </p:pic>
      <p:sp>
        <p:nvSpPr>
          <p:cNvPr id="39" name="TextBox 39"/>
          <p:cNvSpPr txBox="1"/>
          <p:nvPr/>
        </p:nvSpPr>
        <p:spPr>
          <a:xfrm>
            <a:off x="12230100" y="7759700"/>
            <a:ext cx="254000" cy="342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5449"/>
              </a:lnSpc>
            </a:pPr>
            <a:r>
              <a:rPr lang="en-US" sz="2000" b="0" i="0" u="none" strike="noStrike">
                <a:solidFill>
                  <a:srgbClr val="FAFAFA"/>
                </a:solidFill>
                <a:latin typeface="Pretendard Bold"/>
              </a:rPr>
              <a:t>6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2801600" y="8089900"/>
            <a:ext cx="5016500" cy="558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5449"/>
              </a:lnSpc>
            </a:pPr>
            <a:r>
              <a:rPr lang="ko-KR" altLang="en-US" sz="3200" b="0" i="0" u="none" strike="noStrike" dirty="0">
                <a:solidFill>
                  <a:srgbClr val="323232"/>
                </a:solidFill>
                <a:ea typeface="Pretendard Medium"/>
              </a:rPr>
              <a:t>팀원 모집</a:t>
            </a:r>
            <a:endParaRPr lang="ko-KR" sz="3200" b="0" i="0" u="none" strike="noStrike" dirty="0">
              <a:solidFill>
                <a:srgbClr val="323232"/>
              </a:solidFill>
              <a:ea typeface="Pretendard Medium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6C5F74D-BBAF-AAF0-B2D3-A178EA6DD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925800" y="973137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2100" y="-1549400"/>
            <a:ext cx="13373100" cy="13373100"/>
          </a:xfrm>
          <a:prstGeom prst="rect">
            <a:avLst/>
          </a:prstGeom>
        </p:spPr>
      </p:pic>
      <p:graphicFrame>
        <p:nvGraphicFramePr>
          <p:cNvPr id="3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6648860"/>
              </p:ext>
            </p:extLst>
          </p:nvPr>
        </p:nvGraphicFramePr>
        <p:xfrm>
          <a:off x="2362200" y="4076700"/>
          <a:ext cx="13639799" cy="4216398"/>
        </p:xfrm>
        <a:graphic>
          <a:graphicData uri="http://schemas.openxmlformats.org/drawingml/2006/table">
            <a:tbl>
              <a:tblPr/>
              <a:tblGrid>
                <a:gridCol w="34587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810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19873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sz="2800" b="0" i="0" u="none" strike="noStrike" dirty="0">
                          <a:solidFill>
                            <a:srgbClr val="323232"/>
                          </a:solidFill>
                          <a:latin typeface="Pretendard Bold" panose="020B0600000101010101" charset="-127"/>
                          <a:ea typeface="Pretendard Bold" panose="020B0600000101010101" charset="-127"/>
                        </a:rPr>
                        <a:t>항목</a:t>
                      </a:r>
                      <a:endParaRPr lang="en-US" sz="1400" dirty="0">
                        <a:latin typeface="Pretendard Bold" panose="020B0600000101010101" charset="-127"/>
                        <a:ea typeface="Pretendard Bold" panose="020B0600000101010101" charset="-127"/>
                      </a:endParaRPr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4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4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sz="2800" b="0" i="0" u="none" strike="noStrike" dirty="0">
                          <a:solidFill>
                            <a:srgbClr val="323232"/>
                          </a:solidFill>
                          <a:latin typeface="Pretendard Bold" panose="020B0600000101010101" charset="-127"/>
                          <a:ea typeface="Pretendard Bold" panose="020B0600000101010101" charset="-127"/>
                        </a:rPr>
                        <a:t>세부내용</a:t>
                      </a:r>
                      <a:endParaRPr lang="en-US" sz="1400" dirty="0">
                        <a:latin typeface="Pretendard Bold" panose="020B0600000101010101" charset="-127"/>
                        <a:ea typeface="Pretendard Bold" panose="020B0600000101010101" charset="-127"/>
                      </a:endParaRPr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4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4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9873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2400" b="0" i="0" u="none" strike="noStrike" dirty="0">
                          <a:solidFill>
                            <a:srgbClr val="323232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제목</a:t>
                      </a:r>
                      <a:endParaRPr lang="en-US" sz="140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4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2400" b="0" i="0" u="none" strike="noStrike" dirty="0">
                          <a:solidFill>
                            <a:srgbClr val="323232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군자 떡볶이 </a:t>
                      </a:r>
                      <a:r>
                        <a:rPr lang="en-US" altLang="ko-KR" sz="2400" b="0" i="0" u="none" strike="noStrike" dirty="0">
                          <a:solidFill>
                            <a:srgbClr val="323232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Gunja </a:t>
                      </a:r>
                      <a:r>
                        <a:rPr lang="en-US" altLang="ko-KR" sz="2400" b="0" i="0" u="none" strike="noStrike" dirty="0" err="1">
                          <a:solidFill>
                            <a:srgbClr val="323232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Tteokbokki</a:t>
                      </a:r>
                      <a:endParaRPr lang="en-US" sz="140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4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4163">
                <a:tc>
                  <a:txBody>
                    <a:bodyPr/>
                    <a:lstStyle/>
                    <a:p>
                      <a:pPr lvl="0" algn="ctr">
                        <a:lnSpc>
                          <a:spcPct val="83000"/>
                        </a:lnSpc>
                        <a:defRPr/>
                      </a:pPr>
                      <a:r>
                        <a:rPr lang="ko-KR" altLang="en-US" sz="2400" b="0" i="0" u="none" strike="noStrike" dirty="0">
                          <a:solidFill>
                            <a:srgbClr val="323232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플랫폼</a:t>
                      </a:r>
                      <a:endParaRPr lang="en-US" sz="140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83000"/>
                        </a:lnSpc>
                        <a:defRPr/>
                      </a:pPr>
                      <a:r>
                        <a:rPr lang="en-US" sz="2400" b="0" i="0" u="none" strike="noStrike" dirty="0">
                          <a:solidFill>
                            <a:srgbClr val="323232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PC</a:t>
                      </a:r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94163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2400" b="0" i="0" u="none" strike="noStrike" dirty="0">
                          <a:solidFill>
                            <a:srgbClr val="323232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엔진</a:t>
                      </a:r>
                      <a:endParaRPr lang="en-US" sz="140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400" b="0" i="0" u="none" strike="noStrike" dirty="0">
                          <a:solidFill>
                            <a:srgbClr val="323232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Unity 2D</a:t>
                      </a:r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7140740"/>
                  </a:ext>
                </a:extLst>
              </a:tr>
              <a:tr h="694163">
                <a:tc>
                  <a:txBody>
                    <a:bodyPr/>
                    <a:lstStyle/>
                    <a:p>
                      <a:pPr lvl="0" algn="ctr">
                        <a:lnSpc>
                          <a:spcPct val="83000"/>
                        </a:lnSpc>
                        <a:defRPr/>
                      </a:pPr>
                      <a:r>
                        <a:rPr lang="ko-KR" altLang="en-US" sz="2400" b="0" i="0" u="none" strike="noStrike" dirty="0">
                          <a:solidFill>
                            <a:srgbClr val="323232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장르</a:t>
                      </a:r>
                      <a:endParaRPr lang="en-US" sz="140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83000"/>
                        </a:lnSpc>
                        <a:defRPr/>
                      </a:pPr>
                      <a:r>
                        <a:rPr lang="ko-KR" altLang="en-US" sz="2400" b="0" i="0" u="none" strike="noStrike">
                          <a:solidFill>
                            <a:srgbClr val="323232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타이쿤 </a:t>
                      </a:r>
                      <a:r>
                        <a:rPr lang="en-US" altLang="ko-KR" sz="2400" b="0" i="0" u="none" strike="noStrike">
                          <a:solidFill>
                            <a:srgbClr val="323232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+ </a:t>
                      </a:r>
                      <a:r>
                        <a:rPr lang="ko-KR" altLang="en-US" sz="2400" b="0" i="0" u="none" strike="noStrike">
                          <a:solidFill>
                            <a:srgbClr val="323232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조리 시뮬레이션</a:t>
                      </a:r>
                      <a:endParaRPr lang="en-US" sz="2400" b="0" i="0" u="none" strike="noStrike" dirty="0">
                        <a:solidFill>
                          <a:srgbClr val="323232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20875"/>
                  </a:ext>
                </a:extLst>
              </a:tr>
              <a:tr h="694163">
                <a:tc>
                  <a:txBody>
                    <a:bodyPr/>
                    <a:lstStyle/>
                    <a:p>
                      <a:pPr lvl="0" algn="ctr">
                        <a:lnSpc>
                          <a:spcPct val="83000"/>
                        </a:lnSpc>
                        <a:defRPr/>
                      </a:pPr>
                      <a:r>
                        <a:rPr lang="ko-KR" altLang="en-US" sz="2400" b="0" i="0" u="none" strike="noStrike" dirty="0">
                          <a:solidFill>
                            <a:srgbClr val="323232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시나리오</a:t>
                      </a:r>
                      <a:endParaRPr lang="en-US" sz="140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83000"/>
                        </a:lnSpc>
                        <a:defRPr/>
                      </a:pPr>
                      <a:r>
                        <a:rPr lang="ko-KR" altLang="en-US" sz="2400" b="0" i="0" u="none" strike="noStrike">
                          <a:solidFill>
                            <a:srgbClr val="323232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들어오는 주문을 보고 빠르고 정확하게 조리하여 매출과 재고를 관리하고</a:t>
                      </a:r>
                      <a:r>
                        <a:rPr lang="en-US" altLang="ko-KR" sz="2400" b="0" i="0" u="none" strike="noStrike">
                          <a:solidFill>
                            <a:srgbClr val="323232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, </a:t>
                      </a:r>
                      <a:r>
                        <a:rPr lang="ko-KR" altLang="en-US" sz="2400" b="0" i="0" u="none" strike="noStrike">
                          <a:solidFill>
                            <a:srgbClr val="323232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돈을 번다</a:t>
                      </a:r>
                      <a:r>
                        <a:rPr lang="en-US" altLang="ko-KR" sz="2400" b="0" i="0" u="none" strike="noStrike">
                          <a:solidFill>
                            <a:srgbClr val="323232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.</a:t>
                      </a:r>
                      <a:endParaRPr lang="en-US" sz="2400" b="0" i="0" u="none" strike="noStrike" dirty="0">
                        <a:solidFill>
                          <a:srgbClr val="323232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922316"/>
                  </a:ext>
                </a:extLst>
              </a:tr>
            </a:tbl>
          </a:graphicData>
        </a:graphic>
      </p:graphicFrame>
      <p:sp>
        <p:nvSpPr>
          <p:cNvPr id="4" name="TextBox 4"/>
          <p:cNvSpPr txBox="1"/>
          <p:nvPr/>
        </p:nvSpPr>
        <p:spPr>
          <a:xfrm>
            <a:off x="1346200" y="1308100"/>
            <a:ext cx="6121400" cy="1168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5449"/>
              </a:lnSpc>
            </a:pPr>
            <a:r>
              <a:rPr lang="ko-KR" altLang="en-US" sz="6500">
                <a:solidFill>
                  <a:srgbClr val="323232"/>
                </a:solidFill>
                <a:ea typeface="Pretendard SemiBold"/>
              </a:rPr>
              <a:t>프로젝트 </a:t>
            </a:r>
            <a:r>
              <a:rPr lang="ko-KR" altLang="en-US" sz="6500" dirty="0">
                <a:solidFill>
                  <a:srgbClr val="323232"/>
                </a:solidFill>
                <a:ea typeface="Pretendard SemiBold"/>
              </a:rPr>
              <a:t>개요</a:t>
            </a:r>
            <a:endParaRPr lang="ko-KR" sz="6500" b="0" i="0" u="none" strike="noStrike" dirty="0">
              <a:solidFill>
                <a:srgbClr val="323232"/>
              </a:solidFill>
              <a:ea typeface="Pretendard Semi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346200" y="2514600"/>
            <a:ext cx="6337300" cy="419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5449"/>
              </a:lnSpc>
            </a:pPr>
            <a:r>
              <a:rPr lang="en-US" sz="2400" i="1" dirty="0">
                <a:solidFill>
                  <a:srgbClr val="323232"/>
                </a:solidFill>
                <a:latin typeface="Baskerville Old Face"/>
              </a:rPr>
              <a:t>Project Outline</a:t>
            </a:r>
            <a:endParaRPr lang="en-US" sz="2400" b="0" i="1" u="none" strike="noStrike" dirty="0">
              <a:solidFill>
                <a:srgbClr val="323232"/>
              </a:solidFill>
              <a:latin typeface="Baskerville Old Face"/>
            </a:endParaRPr>
          </a:p>
        </p:txBody>
      </p:sp>
      <p:sp>
        <p:nvSpPr>
          <p:cNvPr id="7" name="슬라이드 번호 개체 틀 3">
            <a:extLst>
              <a:ext uri="{FF2B5EF4-FFF2-40B4-BE49-F238E27FC236}">
                <a16:creationId xmlns:a16="http://schemas.microsoft.com/office/drawing/2014/main" id="{C69B5C7B-E1C0-20C9-C6B2-352E84B7D59C}"/>
              </a:ext>
            </a:extLst>
          </p:cNvPr>
          <p:cNvSpPr txBox="1">
            <a:spLocks/>
          </p:cNvSpPr>
          <p:nvPr/>
        </p:nvSpPr>
        <p:spPr>
          <a:xfrm>
            <a:off x="15925800" y="972820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0D305F-42AE-A21B-F4C1-ADAB4E485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D991119D-F9A8-47EE-A308-B459C1897F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2100" y="-1549400"/>
            <a:ext cx="13373100" cy="13373100"/>
          </a:xfrm>
          <a:prstGeom prst="rect">
            <a:avLst/>
          </a:prstGeom>
        </p:spPr>
      </p:pic>
      <p:sp>
        <p:nvSpPr>
          <p:cNvPr id="8" name="TextBox 3">
            <a:extLst>
              <a:ext uri="{FF2B5EF4-FFF2-40B4-BE49-F238E27FC236}">
                <a16:creationId xmlns:a16="http://schemas.microsoft.com/office/drawing/2014/main" id="{01B6847E-6248-774A-DB78-24F03CBAC772}"/>
              </a:ext>
            </a:extLst>
          </p:cNvPr>
          <p:cNvSpPr txBox="1"/>
          <p:nvPr/>
        </p:nvSpPr>
        <p:spPr>
          <a:xfrm>
            <a:off x="1346200" y="3492500"/>
            <a:ext cx="12979400" cy="4279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571500" lvl="0" indent="-571500">
              <a:lnSpc>
                <a:spcPct val="95449"/>
              </a:lnSpc>
              <a:buFont typeface="Arial" panose="020B0604020202020204" pitchFamily="34" charset="0"/>
              <a:buChar char="•"/>
            </a:pPr>
            <a:r>
              <a:rPr lang="ko-KR" altLang="en-US" sz="3600">
                <a:solidFill>
                  <a:srgbClr val="32323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게임 시간 하루 </a:t>
            </a:r>
            <a:r>
              <a:rPr lang="ko-KR" altLang="en-US" sz="3600" dirty="0">
                <a:solidFill>
                  <a:srgbClr val="32323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단위 경영 → 제한된 시간 동안 최대한 많은 주문 처리</a:t>
            </a:r>
          </a:p>
          <a:p>
            <a:pPr marL="571500" lvl="0" indent="-571500">
              <a:lnSpc>
                <a:spcPct val="95449"/>
              </a:lnSpc>
              <a:buFont typeface="Arial" panose="020B0604020202020204" pitchFamily="34" charset="0"/>
              <a:buChar char="•"/>
            </a:pPr>
            <a:endParaRPr lang="ko-KR" altLang="en-US" sz="3600" dirty="0">
              <a:solidFill>
                <a:srgbClr val="323232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571500" lvl="0" indent="-571500">
              <a:lnSpc>
                <a:spcPct val="95449"/>
              </a:lnSpc>
              <a:buFont typeface="Arial" panose="020B0604020202020204" pitchFamily="34" charset="0"/>
              <a:buChar char="•"/>
            </a:pPr>
            <a:r>
              <a:rPr lang="ko-KR" altLang="en-US" sz="3600" dirty="0">
                <a:solidFill>
                  <a:srgbClr val="32323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영수증 기반 주문 처리 → 재료를 클릭하여 선택하고</a:t>
            </a:r>
            <a:r>
              <a:rPr lang="en-US" altLang="ko-KR" sz="3600" dirty="0">
                <a:solidFill>
                  <a:srgbClr val="32323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3600" dirty="0">
                <a:solidFill>
                  <a:srgbClr val="32323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조리함</a:t>
            </a:r>
          </a:p>
          <a:p>
            <a:pPr marL="571500" lvl="0" indent="-571500">
              <a:lnSpc>
                <a:spcPct val="95449"/>
              </a:lnSpc>
              <a:buFont typeface="Arial" panose="020B0604020202020204" pitchFamily="34" charset="0"/>
              <a:buChar char="•"/>
            </a:pPr>
            <a:endParaRPr lang="ko-KR" altLang="en-US" sz="3600" dirty="0">
              <a:solidFill>
                <a:srgbClr val="323232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571500" lvl="0" indent="-571500">
              <a:lnSpc>
                <a:spcPct val="95449"/>
              </a:lnSpc>
              <a:buFont typeface="Arial" panose="020B0604020202020204" pitchFamily="34" charset="0"/>
              <a:buChar char="•"/>
            </a:pPr>
            <a:r>
              <a:rPr lang="ko-KR" altLang="en-US" sz="3600" dirty="0">
                <a:solidFill>
                  <a:srgbClr val="32323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재료 수급 → 주문형 재고 시스템</a:t>
            </a:r>
          </a:p>
          <a:p>
            <a:pPr marL="571500" lvl="0" indent="-571500">
              <a:lnSpc>
                <a:spcPct val="95449"/>
              </a:lnSpc>
              <a:buFont typeface="Arial" panose="020B0604020202020204" pitchFamily="34" charset="0"/>
              <a:buChar char="•"/>
            </a:pPr>
            <a:endParaRPr lang="ko-KR" altLang="en-US" sz="3600" dirty="0">
              <a:solidFill>
                <a:srgbClr val="323232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571500" lvl="0" indent="-571500">
              <a:lnSpc>
                <a:spcPct val="95449"/>
              </a:lnSpc>
              <a:buFont typeface="Arial" panose="020B0604020202020204" pitchFamily="34" charset="0"/>
              <a:buChar char="•"/>
            </a:pPr>
            <a:r>
              <a:rPr lang="ko-KR" altLang="en-US" sz="3600" dirty="0">
                <a:solidFill>
                  <a:srgbClr val="32323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마감 후 매출 정산 및 세금 납부</a:t>
            </a:r>
            <a:endParaRPr lang="en-US" altLang="ko-KR" sz="3600" b="0" i="0" u="none" strike="noStrike" dirty="0">
              <a:solidFill>
                <a:srgbClr val="323232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1" name="TextBox 4">
            <a:extLst>
              <a:ext uri="{FF2B5EF4-FFF2-40B4-BE49-F238E27FC236}">
                <a16:creationId xmlns:a16="http://schemas.microsoft.com/office/drawing/2014/main" id="{98162219-FDBE-C35E-4AFC-C6B0D5A9F687}"/>
              </a:ext>
            </a:extLst>
          </p:cNvPr>
          <p:cNvSpPr txBox="1"/>
          <p:nvPr/>
        </p:nvSpPr>
        <p:spPr>
          <a:xfrm>
            <a:off x="1346200" y="1308100"/>
            <a:ext cx="6121400" cy="1168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5449"/>
              </a:lnSpc>
            </a:pPr>
            <a:r>
              <a:rPr lang="ko-KR" altLang="en-US" sz="6500">
                <a:solidFill>
                  <a:srgbClr val="323232"/>
                </a:solidFill>
                <a:ea typeface="Pretendard SemiBold"/>
              </a:rPr>
              <a:t>프로젝트 </a:t>
            </a:r>
            <a:r>
              <a:rPr lang="ko-KR" altLang="en-US" sz="6500" dirty="0">
                <a:solidFill>
                  <a:srgbClr val="323232"/>
                </a:solidFill>
                <a:ea typeface="Pretendard SemiBold"/>
              </a:rPr>
              <a:t>개요</a:t>
            </a:r>
            <a:endParaRPr lang="ko-KR" sz="6500" b="0" i="0" u="none" strike="noStrike" dirty="0">
              <a:solidFill>
                <a:srgbClr val="323232"/>
              </a:solidFill>
              <a:ea typeface="Pretendard SemiBold"/>
            </a:endParaRPr>
          </a:p>
        </p:txBody>
      </p:sp>
      <p:sp>
        <p:nvSpPr>
          <p:cNvPr id="12" name="TextBox 5">
            <a:extLst>
              <a:ext uri="{FF2B5EF4-FFF2-40B4-BE49-F238E27FC236}">
                <a16:creationId xmlns:a16="http://schemas.microsoft.com/office/drawing/2014/main" id="{68270A24-0C8B-883E-BB2B-F8492AC5ABF9}"/>
              </a:ext>
            </a:extLst>
          </p:cNvPr>
          <p:cNvSpPr txBox="1"/>
          <p:nvPr/>
        </p:nvSpPr>
        <p:spPr>
          <a:xfrm>
            <a:off x="1346200" y="2514600"/>
            <a:ext cx="6337300" cy="419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5449"/>
              </a:lnSpc>
            </a:pPr>
            <a:r>
              <a:rPr lang="en-US" sz="2400" i="1" dirty="0">
                <a:solidFill>
                  <a:srgbClr val="323232"/>
                </a:solidFill>
                <a:latin typeface="Baskerville Old Face"/>
              </a:rPr>
              <a:t>Project Outline</a:t>
            </a:r>
            <a:endParaRPr lang="en-US" sz="2400" b="0" i="1" u="none" strike="noStrike" dirty="0">
              <a:solidFill>
                <a:srgbClr val="323232"/>
              </a:solidFill>
              <a:latin typeface="Baskerville Old Face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1F992D1-E19C-753C-0069-D5421315F130}"/>
              </a:ext>
            </a:extLst>
          </p:cNvPr>
          <p:cNvSpPr txBox="1">
            <a:spLocks/>
          </p:cNvSpPr>
          <p:nvPr/>
        </p:nvSpPr>
        <p:spPr>
          <a:xfrm>
            <a:off x="15925800" y="972820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479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C26BCA-3347-2700-BB59-2AE9E8A2F6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320170C6-A374-A5FB-60D6-8F1A0EF4D7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5600" y="933450"/>
            <a:ext cx="13373100" cy="13373100"/>
          </a:xfrm>
          <a:prstGeom prst="rect">
            <a:avLst/>
          </a:prstGeom>
        </p:spPr>
      </p:pic>
      <p:sp>
        <p:nvSpPr>
          <p:cNvPr id="4" name="TextBox 4">
            <a:extLst>
              <a:ext uri="{FF2B5EF4-FFF2-40B4-BE49-F238E27FC236}">
                <a16:creationId xmlns:a16="http://schemas.microsoft.com/office/drawing/2014/main" id="{7BD0AF40-85B0-B7AA-B3A6-1C4F8C57949F}"/>
              </a:ext>
            </a:extLst>
          </p:cNvPr>
          <p:cNvSpPr txBox="1"/>
          <p:nvPr/>
        </p:nvSpPr>
        <p:spPr>
          <a:xfrm>
            <a:off x="1346200" y="1308100"/>
            <a:ext cx="6121400" cy="1168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5449"/>
              </a:lnSpc>
            </a:pPr>
            <a:r>
              <a:rPr lang="ko-KR" altLang="en-US" sz="6500">
                <a:solidFill>
                  <a:srgbClr val="323232"/>
                </a:solidFill>
                <a:ea typeface="Pretendard SemiBold"/>
              </a:rPr>
              <a:t>프로젝트 </a:t>
            </a:r>
            <a:r>
              <a:rPr lang="ko-KR" altLang="en-US" sz="6500" dirty="0">
                <a:solidFill>
                  <a:srgbClr val="323232"/>
                </a:solidFill>
                <a:ea typeface="Pretendard SemiBold"/>
              </a:rPr>
              <a:t>개요</a:t>
            </a:r>
            <a:endParaRPr lang="ko-KR" sz="6500" b="0" i="0" u="none" strike="noStrike" dirty="0">
              <a:solidFill>
                <a:srgbClr val="323232"/>
              </a:solidFill>
              <a:ea typeface="Pretendard SemiBold"/>
            </a:endParaRP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EB7A744A-4C01-E234-983C-3D91EBA04799}"/>
              </a:ext>
            </a:extLst>
          </p:cNvPr>
          <p:cNvSpPr txBox="1"/>
          <p:nvPr/>
        </p:nvSpPr>
        <p:spPr>
          <a:xfrm>
            <a:off x="1346200" y="2514600"/>
            <a:ext cx="6337300" cy="419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5449"/>
              </a:lnSpc>
            </a:pPr>
            <a:r>
              <a:rPr lang="en-US" sz="2400" i="1" dirty="0">
                <a:solidFill>
                  <a:srgbClr val="323232"/>
                </a:solidFill>
                <a:latin typeface="Baskerville Old Face"/>
              </a:rPr>
              <a:t>Project Outline</a:t>
            </a:r>
            <a:endParaRPr lang="en-US" sz="2400" b="0" i="1" u="none" strike="noStrike" dirty="0">
              <a:solidFill>
                <a:srgbClr val="323232"/>
              </a:solidFill>
              <a:latin typeface="Baskerville Old Face"/>
            </a:endParaRPr>
          </a:p>
        </p:txBody>
      </p:sp>
      <p:pic>
        <p:nvPicPr>
          <p:cNvPr id="7" name="그래픽 6" descr="깃펜 윤곽선">
            <a:extLst>
              <a:ext uri="{FF2B5EF4-FFF2-40B4-BE49-F238E27FC236}">
                <a16:creationId xmlns:a16="http://schemas.microsoft.com/office/drawing/2014/main" id="{00B6D594-FDE8-A1E7-0669-35EFFDE24E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811000" y="3503613"/>
            <a:ext cx="3886200" cy="3886200"/>
          </a:xfrm>
          <a:prstGeom prst="rect">
            <a:avLst/>
          </a:prstGeom>
        </p:spPr>
      </p:pic>
      <p:pic>
        <p:nvPicPr>
          <p:cNvPr id="9" name="그래픽 8" descr="여성 프로그래머 윤곽선">
            <a:extLst>
              <a:ext uri="{FF2B5EF4-FFF2-40B4-BE49-F238E27FC236}">
                <a16:creationId xmlns:a16="http://schemas.microsoft.com/office/drawing/2014/main" id="{A0C3B6EF-BCA5-FCCC-0954-3A83BE98016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009900" y="3503613"/>
            <a:ext cx="3886200" cy="38862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E7F417A-8B25-B1F8-1265-9129B9A13D39}"/>
              </a:ext>
            </a:extLst>
          </p:cNvPr>
          <p:cNvSpPr txBox="1"/>
          <p:nvPr/>
        </p:nvSpPr>
        <p:spPr>
          <a:xfrm>
            <a:off x="2349500" y="7826375"/>
            <a:ext cx="5016500" cy="1127125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0000"/>
              </a:lnSpc>
            </a:pPr>
            <a:r>
              <a:rPr lang="en-US" altLang="ko-KR" sz="2800" dirty="0">
                <a:solidFill>
                  <a:srgbClr val="32323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PM, </a:t>
            </a:r>
            <a:r>
              <a:rPr lang="ko-KR" altLang="en-US" sz="2800" dirty="0">
                <a:solidFill>
                  <a:srgbClr val="32323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프로그래밍</a:t>
            </a:r>
            <a:r>
              <a:rPr lang="en-US" altLang="ko-KR" sz="2800" dirty="0">
                <a:solidFill>
                  <a:srgbClr val="32323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2800" dirty="0">
                <a:solidFill>
                  <a:srgbClr val="32323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기획</a:t>
            </a:r>
            <a:endParaRPr lang="en-US" altLang="ko-KR" sz="2800" dirty="0">
              <a:solidFill>
                <a:srgbClr val="323232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lvl="0" algn="ctr">
              <a:lnSpc>
                <a:spcPct val="120000"/>
              </a:lnSpc>
            </a:pPr>
            <a:r>
              <a:rPr lang="ko-KR" altLang="en-US" sz="3200" b="0" i="0" u="none" strike="noStrike" dirty="0">
                <a:solidFill>
                  <a:srgbClr val="32323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신혜원</a:t>
            </a:r>
            <a:endParaRPr lang="ko-KR" sz="3200" b="0" i="0" u="none" strike="noStrike" dirty="0">
              <a:solidFill>
                <a:srgbClr val="323232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949A624-4431-1290-28FF-D8AEC1EECA81}"/>
              </a:ext>
            </a:extLst>
          </p:cNvPr>
          <p:cNvSpPr txBox="1"/>
          <p:nvPr/>
        </p:nvSpPr>
        <p:spPr>
          <a:xfrm>
            <a:off x="10922002" y="7826375"/>
            <a:ext cx="5016500" cy="1127125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0000"/>
              </a:lnSpc>
            </a:pPr>
            <a:r>
              <a:rPr lang="ko-KR" altLang="en-US" sz="2800" dirty="0">
                <a:solidFill>
                  <a:srgbClr val="32323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기획</a:t>
            </a:r>
            <a:endParaRPr lang="en-US" altLang="ko-KR" sz="2800" dirty="0">
              <a:solidFill>
                <a:srgbClr val="323232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lvl="0" algn="ctr">
              <a:lnSpc>
                <a:spcPct val="120000"/>
              </a:lnSpc>
            </a:pPr>
            <a:r>
              <a:rPr lang="ko-KR" altLang="en-US" sz="3200" b="0" i="0" u="none" strike="noStrike" dirty="0" err="1">
                <a:solidFill>
                  <a:srgbClr val="32323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윤하경</a:t>
            </a:r>
            <a:endParaRPr lang="ko-KR" sz="3200" b="0" i="0" u="none" strike="noStrike" dirty="0">
              <a:solidFill>
                <a:srgbClr val="323232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6" name="슬라이드 번호 개체 틀 3">
            <a:extLst>
              <a:ext uri="{FF2B5EF4-FFF2-40B4-BE49-F238E27FC236}">
                <a16:creationId xmlns:a16="http://schemas.microsoft.com/office/drawing/2014/main" id="{D0A1A5A4-F337-05F5-4474-869C850BBB5F}"/>
              </a:ext>
            </a:extLst>
          </p:cNvPr>
          <p:cNvSpPr txBox="1">
            <a:spLocks/>
          </p:cNvSpPr>
          <p:nvPr/>
        </p:nvSpPr>
        <p:spPr>
          <a:xfrm>
            <a:off x="15925800" y="972820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5030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5FE82C-0194-2010-D42A-52EC8F324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A1086140-8369-2FDB-29E6-DE246F2721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160012" y="-952500"/>
            <a:ext cx="13373100" cy="13373100"/>
          </a:xfrm>
          <a:prstGeom prst="rect">
            <a:avLst/>
          </a:prstGeom>
        </p:spPr>
      </p:pic>
      <p:sp>
        <p:nvSpPr>
          <p:cNvPr id="3" name="TextBox 3">
            <a:extLst>
              <a:ext uri="{FF2B5EF4-FFF2-40B4-BE49-F238E27FC236}">
                <a16:creationId xmlns:a16="http://schemas.microsoft.com/office/drawing/2014/main" id="{F9CAC5B6-5753-EFF4-FA3B-C339C15B260B}"/>
              </a:ext>
            </a:extLst>
          </p:cNvPr>
          <p:cNvSpPr txBox="1"/>
          <p:nvPr/>
        </p:nvSpPr>
        <p:spPr>
          <a:xfrm>
            <a:off x="1346200" y="1308100"/>
            <a:ext cx="4457700" cy="1168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5449"/>
              </a:lnSpc>
            </a:pPr>
            <a:r>
              <a:rPr lang="ko-KR" altLang="en-US" sz="6500" dirty="0">
                <a:solidFill>
                  <a:srgbClr val="323232"/>
                </a:solidFill>
                <a:ea typeface="Pretendard SemiBold"/>
              </a:rPr>
              <a:t>레퍼런스</a:t>
            </a:r>
            <a:endParaRPr lang="ko-KR" sz="6500" b="0" i="0" u="none" strike="noStrike" dirty="0">
              <a:solidFill>
                <a:srgbClr val="323232"/>
              </a:solidFill>
              <a:ea typeface="Pretendard SemiBold"/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91F1A671-D424-557E-423A-54F7C4FCA58A}"/>
              </a:ext>
            </a:extLst>
          </p:cNvPr>
          <p:cNvSpPr txBox="1"/>
          <p:nvPr/>
        </p:nvSpPr>
        <p:spPr>
          <a:xfrm>
            <a:off x="1346200" y="2514600"/>
            <a:ext cx="6337300" cy="419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5449"/>
              </a:lnSpc>
            </a:pPr>
            <a:r>
              <a:rPr lang="en-US" sz="2400" i="1" dirty="0">
                <a:solidFill>
                  <a:srgbClr val="323232"/>
                </a:solidFill>
                <a:latin typeface="Baskerville Old Face"/>
              </a:rPr>
              <a:t>Reference</a:t>
            </a:r>
            <a:endParaRPr lang="en-US" sz="2400" b="0" i="1" u="none" strike="noStrike" dirty="0">
              <a:solidFill>
                <a:srgbClr val="323232"/>
              </a:solidFill>
              <a:latin typeface="Baskerville Old Face"/>
            </a:endParaRPr>
          </a:p>
        </p:txBody>
      </p:sp>
      <p:grpSp>
        <p:nvGrpSpPr>
          <p:cNvPr id="12" name="Group 12">
            <a:extLst>
              <a:ext uri="{FF2B5EF4-FFF2-40B4-BE49-F238E27FC236}">
                <a16:creationId xmlns:a16="http://schemas.microsoft.com/office/drawing/2014/main" id="{7C135764-33E5-52BA-B2E3-6E8CBA317240}"/>
              </a:ext>
            </a:extLst>
          </p:cNvPr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15" name="TextBox 3">
            <a:extLst>
              <a:ext uri="{FF2B5EF4-FFF2-40B4-BE49-F238E27FC236}">
                <a16:creationId xmlns:a16="http://schemas.microsoft.com/office/drawing/2014/main" id="{28F13E2B-05D7-C8CF-3E01-CF95EDC6F938}"/>
              </a:ext>
            </a:extLst>
          </p:cNvPr>
          <p:cNvSpPr txBox="1"/>
          <p:nvPr/>
        </p:nvSpPr>
        <p:spPr>
          <a:xfrm>
            <a:off x="3168904" y="4152900"/>
            <a:ext cx="11950192" cy="2743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5449"/>
              </a:lnSpc>
            </a:pPr>
            <a:r>
              <a:rPr lang="ko-KR" altLang="en-US" sz="4800" b="0" i="0" u="none" strike="noStrike" dirty="0">
                <a:solidFill>
                  <a:srgbClr val="32323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실제 알바 경험 </a:t>
            </a:r>
            <a:r>
              <a:rPr lang="en-US" altLang="ko-KR" sz="4800" b="0" i="0" u="none" strike="noStrike">
                <a:solidFill>
                  <a:srgbClr val="32323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+ </a:t>
            </a:r>
            <a:r>
              <a:rPr lang="ko-KR" altLang="en-US" sz="4800">
                <a:solidFill>
                  <a:srgbClr val="32323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타이쿤</a:t>
            </a:r>
            <a:endParaRPr lang="en-US" altLang="ko-KR" sz="4800" b="0" i="0" u="none" strike="noStrike" dirty="0">
              <a:solidFill>
                <a:srgbClr val="323232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6" name="슬라이드 번호 개체 틀 3">
            <a:extLst>
              <a:ext uri="{FF2B5EF4-FFF2-40B4-BE49-F238E27FC236}">
                <a16:creationId xmlns:a16="http://schemas.microsoft.com/office/drawing/2014/main" id="{1BDCCC37-A43E-4CB0-8DC9-B431CE293F85}"/>
              </a:ext>
            </a:extLst>
          </p:cNvPr>
          <p:cNvSpPr txBox="1">
            <a:spLocks/>
          </p:cNvSpPr>
          <p:nvPr/>
        </p:nvSpPr>
        <p:spPr>
          <a:xfrm>
            <a:off x="15925800" y="972820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326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3E2A50-BB5A-D5DC-861A-3114CB9CF7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BE75C6E5-DB49-4309-BBE5-805453EC36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160012" y="-952500"/>
            <a:ext cx="13373100" cy="13373100"/>
          </a:xfrm>
          <a:prstGeom prst="rect">
            <a:avLst/>
          </a:prstGeom>
        </p:spPr>
      </p:pic>
      <p:sp>
        <p:nvSpPr>
          <p:cNvPr id="3" name="TextBox 3">
            <a:extLst>
              <a:ext uri="{FF2B5EF4-FFF2-40B4-BE49-F238E27FC236}">
                <a16:creationId xmlns:a16="http://schemas.microsoft.com/office/drawing/2014/main" id="{944CDF5A-8157-1ACB-D777-77DFE5C11E65}"/>
              </a:ext>
            </a:extLst>
          </p:cNvPr>
          <p:cNvSpPr txBox="1"/>
          <p:nvPr/>
        </p:nvSpPr>
        <p:spPr>
          <a:xfrm>
            <a:off x="1346200" y="1308100"/>
            <a:ext cx="4457700" cy="1168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5449"/>
              </a:lnSpc>
            </a:pPr>
            <a:r>
              <a:rPr lang="ko-KR" altLang="en-US" sz="6500" dirty="0">
                <a:solidFill>
                  <a:srgbClr val="323232"/>
                </a:solidFill>
                <a:ea typeface="Pretendard SemiBold"/>
              </a:rPr>
              <a:t>레퍼런스</a:t>
            </a:r>
            <a:endParaRPr lang="ko-KR" sz="6500" b="0" i="0" u="none" strike="noStrike" dirty="0">
              <a:solidFill>
                <a:srgbClr val="323232"/>
              </a:solidFill>
              <a:ea typeface="Pretendard SemiBold"/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04F68F1C-C6EA-B5C0-9575-EF35AB2A706F}"/>
              </a:ext>
            </a:extLst>
          </p:cNvPr>
          <p:cNvSpPr txBox="1"/>
          <p:nvPr/>
        </p:nvSpPr>
        <p:spPr>
          <a:xfrm>
            <a:off x="1346200" y="2514600"/>
            <a:ext cx="6337300" cy="419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5449"/>
              </a:lnSpc>
            </a:pPr>
            <a:r>
              <a:rPr lang="en-US" sz="2400" i="1" dirty="0">
                <a:solidFill>
                  <a:srgbClr val="323232"/>
                </a:solidFill>
                <a:latin typeface="Baskerville Old Face"/>
              </a:rPr>
              <a:t>Reference</a:t>
            </a:r>
            <a:endParaRPr lang="en-US" sz="2400" b="0" i="1" u="none" strike="noStrike" dirty="0">
              <a:solidFill>
                <a:srgbClr val="323232"/>
              </a:solidFill>
              <a:latin typeface="Baskerville Old Face"/>
            </a:endParaRPr>
          </a:p>
        </p:txBody>
      </p:sp>
      <p:grpSp>
        <p:nvGrpSpPr>
          <p:cNvPr id="12" name="Group 12">
            <a:extLst>
              <a:ext uri="{FF2B5EF4-FFF2-40B4-BE49-F238E27FC236}">
                <a16:creationId xmlns:a16="http://schemas.microsoft.com/office/drawing/2014/main" id="{F9FE8126-2988-8E93-35C2-4F7BFB5CAD8C}"/>
              </a:ext>
            </a:extLst>
          </p:cNvPr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026" name="Picture 2">
            <a:extLst>
              <a:ext uri="{FF2B5EF4-FFF2-40B4-BE49-F238E27FC236}">
                <a16:creationId xmlns:a16="http://schemas.microsoft.com/office/drawing/2014/main" id="{0FE16DAC-CFB7-2EEE-035A-3F12B1FCB0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7513" y="5419725"/>
            <a:ext cx="7362825" cy="4143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E27160FD-E1D6-1C3A-4396-3BA811FA11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27662" y="1079500"/>
            <a:ext cx="7362825" cy="4143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73C23A73-A44E-7D5D-C22F-402680545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27662" y="5411787"/>
            <a:ext cx="7362825" cy="4143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3">
            <a:extLst>
              <a:ext uri="{FF2B5EF4-FFF2-40B4-BE49-F238E27FC236}">
                <a16:creationId xmlns:a16="http://schemas.microsoft.com/office/drawing/2014/main" id="{E91A19C8-78F4-C03B-8626-4798272D8E6B}"/>
              </a:ext>
            </a:extLst>
          </p:cNvPr>
          <p:cNvSpPr txBox="1"/>
          <p:nvPr/>
        </p:nvSpPr>
        <p:spPr>
          <a:xfrm>
            <a:off x="1597512" y="3838575"/>
            <a:ext cx="7362825" cy="1143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5449"/>
              </a:lnSpc>
            </a:pPr>
            <a:r>
              <a:rPr lang="en-US" altLang="ko-KR" sz="4800" b="0" i="0" u="none" strike="noStrike" dirty="0" err="1">
                <a:solidFill>
                  <a:srgbClr val="32323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Tarvern</a:t>
            </a:r>
            <a:r>
              <a:rPr lang="en-US" altLang="ko-KR" sz="4800" b="0" i="0" u="none" strike="noStrike" dirty="0">
                <a:solidFill>
                  <a:srgbClr val="32323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Master</a:t>
            </a:r>
          </a:p>
          <a:p>
            <a:pPr lvl="0" algn="ctr">
              <a:lnSpc>
                <a:spcPct val="95449"/>
              </a:lnSpc>
            </a:pPr>
            <a:r>
              <a:rPr lang="ko-KR" altLang="en-US" sz="3200" b="0" i="0" u="none" strike="noStrike" dirty="0">
                <a:solidFill>
                  <a:srgbClr val="32323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경영 및 경제 시스템 레퍼런스</a:t>
            </a:r>
            <a:endParaRPr lang="en-US" altLang="ko-KR" sz="3200" b="0" i="0" u="none" strike="noStrike" dirty="0">
              <a:solidFill>
                <a:srgbClr val="323232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7" name="슬라이드 번호 개체 틀 3">
            <a:extLst>
              <a:ext uri="{FF2B5EF4-FFF2-40B4-BE49-F238E27FC236}">
                <a16:creationId xmlns:a16="http://schemas.microsoft.com/office/drawing/2014/main" id="{FAD746DA-287C-0EF0-34B1-5475B075BDC1}"/>
              </a:ext>
            </a:extLst>
          </p:cNvPr>
          <p:cNvSpPr txBox="1">
            <a:spLocks/>
          </p:cNvSpPr>
          <p:nvPr/>
        </p:nvSpPr>
        <p:spPr>
          <a:xfrm>
            <a:off x="15925800" y="972820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62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A201B6-A209-7FAF-0542-F799FFC7A5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EFE33805-E294-FA64-6B14-7922832BF8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160012" y="-952500"/>
            <a:ext cx="13373100" cy="13373100"/>
          </a:xfrm>
          <a:prstGeom prst="rect">
            <a:avLst/>
          </a:prstGeom>
        </p:spPr>
      </p:pic>
      <p:sp>
        <p:nvSpPr>
          <p:cNvPr id="3" name="TextBox 3">
            <a:extLst>
              <a:ext uri="{FF2B5EF4-FFF2-40B4-BE49-F238E27FC236}">
                <a16:creationId xmlns:a16="http://schemas.microsoft.com/office/drawing/2014/main" id="{9C053DAE-CE10-BD9A-F2AD-8503122E5DF7}"/>
              </a:ext>
            </a:extLst>
          </p:cNvPr>
          <p:cNvSpPr txBox="1"/>
          <p:nvPr/>
        </p:nvSpPr>
        <p:spPr>
          <a:xfrm>
            <a:off x="1346200" y="1308100"/>
            <a:ext cx="4457700" cy="1168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5449"/>
              </a:lnSpc>
            </a:pPr>
            <a:r>
              <a:rPr lang="ko-KR" altLang="en-US" sz="6500" dirty="0">
                <a:solidFill>
                  <a:srgbClr val="323232"/>
                </a:solidFill>
                <a:ea typeface="Pretendard SemiBold"/>
              </a:rPr>
              <a:t>레퍼런스</a:t>
            </a:r>
            <a:endParaRPr lang="ko-KR" sz="6500" b="0" i="0" u="none" strike="noStrike" dirty="0">
              <a:solidFill>
                <a:srgbClr val="323232"/>
              </a:solidFill>
              <a:ea typeface="Pretendard SemiBold"/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2E731F4E-810E-802C-35D0-3DBDCFC8FC60}"/>
              </a:ext>
            </a:extLst>
          </p:cNvPr>
          <p:cNvSpPr txBox="1"/>
          <p:nvPr/>
        </p:nvSpPr>
        <p:spPr>
          <a:xfrm>
            <a:off x="1346200" y="2514600"/>
            <a:ext cx="6337300" cy="419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5449"/>
              </a:lnSpc>
            </a:pPr>
            <a:r>
              <a:rPr lang="en-US" sz="2400" i="1" dirty="0">
                <a:solidFill>
                  <a:srgbClr val="323232"/>
                </a:solidFill>
                <a:latin typeface="Baskerville Old Face"/>
              </a:rPr>
              <a:t>Reference</a:t>
            </a:r>
            <a:endParaRPr lang="en-US" sz="2400" b="0" i="1" u="none" strike="noStrike" dirty="0">
              <a:solidFill>
                <a:srgbClr val="323232"/>
              </a:solidFill>
              <a:latin typeface="Baskerville Old Face"/>
            </a:endParaRPr>
          </a:p>
        </p:txBody>
      </p:sp>
      <p:grpSp>
        <p:nvGrpSpPr>
          <p:cNvPr id="12" name="Group 12">
            <a:extLst>
              <a:ext uri="{FF2B5EF4-FFF2-40B4-BE49-F238E27FC236}">
                <a16:creationId xmlns:a16="http://schemas.microsoft.com/office/drawing/2014/main" id="{96FA0011-1C32-31EE-5CC0-C1FBC234B43A}"/>
              </a:ext>
            </a:extLst>
          </p:cNvPr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6" name="TextBox 3">
            <a:extLst>
              <a:ext uri="{FF2B5EF4-FFF2-40B4-BE49-F238E27FC236}">
                <a16:creationId xmlns:a16="http://schemas.microsoft.com/office/drawing/2014/main" id="{FC512B2C-C865-E13B-6C18-67E6C5669A4D}"/>
              </a:ext>
            </a:extLst>
          </p:cNvPr>
          <p:cNvSpPr txBox="1"/>
          <p:nvPr/>
        </p:nvSpPr>
        <p:spPr>
          <a:xfrm>
            <a:off x="1597512" y="3838575"/>
            <a:ext cx="7362825" cy="1143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5449"/>
              </a:lnSpc>
            </a:pPr>
            <a:r>
              <a:rPr lang="en-US" altLang="ko-KR" sz="4800" b="0" i="0" u="none" strike="noStrike" dirty="0">
                <a:solidFill>
                  <a:srgbClr val="32323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Cook, Serve, Delicious!</a:t>
            </a:r>
          </a:p>
          <a:p>
            <a:pPr lvl="0" algn="ctr">
              <a:lnSpc>
                <a:spcPct val="95449"/>
              </a:lnSpc>
            </a:pPr>
            <a:r>
              <a:rPr lang="ko-KR" altLang="en-US" sz="3200" b="0" i="0" u="none" strike="noStrike" dirty="0">
                <a:solidFill>
                  <a:srgbClr val="32323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주문 및 조리 시스템</a:t>
            </a:r>
            <a:endParaRPr lang="en-US" altLang="ko-KR" sz="3200" b="0" i="0" u="none" strike="noStrike" dirty="0">
              <a:solidFill>
                <a:srgbClr val="323232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1032" name="Picture 8" descr="Cook, Serve, Delicious! 3?! - Game Overview">
            <a:extLst>
              <a:ext uri="{FF2B5EF4-FFF2-40B4-BE49-F238E27FC236}">
                <a16:creationId xmlns:a16="http://schemas.microsoft.com/office/drawing/2014/main" id="{4433FF8B-5B5B-BF53-9F57-F6F1FD6AA5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88110" y="1024499"/>
            <a:ext cx="7429001" cy="4195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Cook, Serve, Delicious! 2!! - Bearly Entertainment - Nexus">
            <a:extLst>
              <a:ext uri="{FF2B5EF4-FFF2-40B4-BE49-F238E27FC236}">
                <a16:creationId xmlns:a16="http://schemas.microsoft.com/office/drawing/2014/main" id="{4224ACB3-3E92-6032-29F5-E59350EC54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96399" y="5386520"/>
            <a:ext cx="7420844" cy="4174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It's not work if you love what you do — Cook, Serve, Delicious! 3?! Early  Access preview">
            <a:extLst>
              <a:ext uri="{FF2B5EF4-FFF2-40B4-BE49-F238E27FC236}">
                <a16:creationId xmlns:a16="http://schemas.microsoft.com/office/drawing/2014/main" id="{6CA0F763-D883-33E6-4D4B-359FDF63AB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5386522"/>
            <a:ext cx="7420843" cy="4174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슬라이드 번호 개체 틀 3">
            <a:extLst>
              <a:ext uri="{FF2B5EF4-FFF2-40B4-BE49-F238E27FC236}">
                <a16:creationId xmlns:a16="http://schemas.microsoft.com/office/drawing/2014/main" id="{133F32D6-4396-8D77-1A3D-0113634A25F1}"/>
              </a:ext>
            </a:extLst>
          </p:cNvPr>
          <p:cNvSpPr txBox="1">
            <a:spLocks/>
          </p:cNvSpPr>
          <p:nvPr/>
        </p:nvSpPr>
        <p:spPr>
          <a:xfrm>
            <a:off x="15925800" y="972820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5435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318500" y="-1549400"/>
            <a:ext cx="13373100" cy="133731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1346200" y="1308100"/>
            <a:ext cx="4457700" cy="1168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5449"/>
              </a:lnSpc>
            </a:pPr>
            <a:r>
              <a:rPr lang="ko-KR" altLang="en-US" sz="6500" b="0" i="0" u="none" strike="noStrike" dirty="0">
                <a:solidFill>
                  <a:srgbClr val="323232"/>
                </a:solidFill>
                <a:ea typeface="Pretendard SemiBold"/>
              </a:rPr>
              <a:t>플레이 방법</a:t>
            </a:r>
            <a:endParaRPr lang="ko-KR" sz="6500" b="0" i="0" u="none" strike="noStrike" dirty="0">
              <a:solidFill>
                <a:srgbClr val="323232"/>
              </a:solidFill>
              <a:ea typeface="Pretendard Semi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346200" y="2514600"/>
            <a:ext cx="6337300" cy="419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5449"/>
              </a:lnSpc>
            </a:pPr>
            <a:r>
              <a:rPr lang="en-US" sz="2400" i="1" dirty="0">
                <a:solidFill>
                  <a:srgbClr val="323232"/>
                </a:solidFill>
                <a:latin typeface="Baskerville Old Face"/>
              </a:rPr>
              <a:t>How to Play</a:t>
            </a:r>
            <a:endParaRPr lang="en-US" sz="2400" b="0" i="1" u="none" strike="noStrike" dirty="0">
              <a:solidFill>
                <a:srgbClr val="323232"/>
              </a:solidFill>
              <a:latin typeface="Baskerville Old Face"/>
            </a:endParaRP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34007D8A-7593-4A0A-21B5-3A5BA31DC173}"/>
              </a:ext>
            </a:extLst>
          </p:cNvPr>
          <p:cNvGrpSpPr/>
          <p:nvPr/>
        </p:nvGrpSpPr>
        <p:grpSpPr>
          <a:xfrm>
            <a:off x="6794500" y="2514600"/>
            <a:ext cx="4699000" cy="4610100"/>
            <a:chOff x="2108200" y="3213100"/>
            <a:chExt cx="6197600" cy="6184900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08200" y="3213100"/>
              <a:ext cx="6197600" cy="6184900"/>
            </a:xfrm>
            <a:prstGeom prst="rect">
              <a:avLst/>
            </a:prstGeom>
            <a:effectLst>
              <a:outerShdw blurRad="381753" dist="190500" dir="2700000">
                <a:srgbClr val="000000">
                  <a:alpha val="30000"/>
                </a:srgbClr>
              </a:outerShdw>
            </a:effectLst>
          </p:spPr>
        </p:pic>
        <p:sp>
          <p:nvSpPr>
            <p:cNvPr id="7" name="TextBox 7"/>
            <p:cNvSpPr txBox="1">
              <a:spLocks/>
            </p:cNvSpPr>
            <p:nvPr/>
          </p:nvSpPr>
          <p:spPr>
            <a:xfrm>
              <a:off x="2705100" y="4813300"/>
              <a:ext cx="4991100" cy="29718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132800"/>
                </a:lnSpc>
              </a:pPr>
              <a:r>
                <a:rPr lang="ko-KR" altLang="en-US" sz="3200" dirty="0">
                  <a:solidFill>
                    <a:srgbClr val="323232"/>
                  </a:solidFill>
                  <a:latin typeface="Pretendard Bold" panose="020B0600000101010101" charset="-127"/>
                  <a:ea typeface="Pretendard Bold" panose="020B0600000101010101" charset="-127"/>
                </a:rPr>
                <a:t>싱글 플레이어</a:t>
              </a:r>
              <a:endParaRPr lang="en-US" altLang="ko-KR" sz="3200" dirty="0">
                <a:solidFill>
                  <a:srgbClr val="323232"/>
                </a:solidFill>
                <a:latin typeface="Pretendard Bold" panose="020B0600000101010101" charset="-127"/>
                <a:ea typeface="Pretendard Bold" panose="020B0600000101010101" charset="-127"/>
              </a:endParaRPr>
            </a:p>
            <a:p>
              <a:pPr lvl="0" algn="ctr">
                <a:lnSpc>
                  <a:spcPct val="132800"/>
                </a:lnSpc>
              </a:pPr>
              <a:r>
                <a:rPr lang="en-US" altLang="ko-KR" sz="3200" dirty="0">
                  <a:solidFill>
                    <a:srgbClr val="323232"/>
                  </a:solidFill>
                  <a:latin typeface="Pretendard Bold" panose="020B0600000101010101" charset="-127"/>
                  <a:ea typeface="Pretendard Bold" panose="020B0600000101010101" charset="-127"/>
                </a:rPr>
                <a:t>+</a:t>
              </a:r>
            </a:p>
            <a:p>
              <a:pPr lvl="0" algn="ctr">
                <a:lnSpc>
                  <a:spcPct val="132800"/>
                </a:lnSpc>
              </a:pPr>
              <a:r>
                <a:rPr lang="ko-KR" altLang="en-US" sz="3200" b="0" i="0" u="none" strike="noStrike" dirty="0">
                  <a:solidFill>
                    <a:srgbClr val="323232"/>
                  </a:solidFill>
                  <a:latin typeface="Pretendard Bold" panose="020B0600000101010101" charset="-127"/>
                  <a:ea typeface="Pretendard Bold" panose="020B0600000101010101" charset="-127"/>
                </a:rPr>
                <a:t>포인트 앤 클릭</a:t>
              </a:r>
              <a:endParaRPr lang="en-US" altLang="ko-KR" sz="3200" b="0" i="0" u="none" strike="noStrike" dirty="0">
                <a:solidFill>
                  <a:srgbClr val="323232"/>
                </a:solidFill>
                <a:latin typeface="Pretendard Bold" panose="020B0600000101010101" charset="-127"/>
                <a:ea typeface="Pretendard Bold" panose="020B0600000101010101" charset="-127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13" name="Group 13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18" name="Group 1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23" name="TextBox 12">
            <a:extLst>
              <a:ext uri="{FF2B5EF4-FFF2-40B4-BE49-F238E27FC236}">
                <a16:creationId xmlns:a16="http://schemas.microsoft.com/office/drawing/2014/main" id="{ED54DC72-7C64-A5AE-BEC8-9DB3A9AF8B45}"/>
              </a:ext>
            </a:extLst>
          </p:cNvPr>
          <p:cNvSpPr txBox="1"/>
          <p:nvPr/>
        </p:nvSpPr>
        <p:spPr>
          <a:xfrm>
            <a:off x="1379728" y="7390357"/>
            <a:ext cx="15544800" cy="1854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altLang="en-US" sz="3200" dirty="0">
                <a:solidFill>
                  <a:srgbClr val="32323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개발 중 만약 클릭이 지나치게 많이 필요하게 된다면 </a:t>
            </a:r>
            <a:endParaRPr lang="en-US" altLang="ko-KR" sz="3200" dirty="0">
              <a:solidFill>
                <a:srgbClr val="323232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lvl="0" algn="ctr">
              <a:lnSpc>
                <a:spcPct val="116199"/>
              </a:lnSpc>
            </a:pPr>
            <a:r>
              <a:rPr lang="ko-KR" altLang="en-US" sz="3200" dirty="0">
                <a:solidFill>
                  <a:srgbClr val="32323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재료를 키보드에 매핑하는 기능 고려 중</a:t>
            </a:r>
            <a:endParaRPr lang="ko-KR" sz="3200" b="0" i="0" u="none" strike="noStrike" dirty="0">
              <a:solidFill>
                <a:srgbClr val="323232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9" name="슬라이드 번호 개체 틀 3">
            <a:extLst>
              <a:ext uri="{FF2B5EF4-FFF2-40B4-BE49-F238E27FC236}">
                <a16:creationId xmlns:a16="http://schemas.microsoft.com/office/drawing/2014/main" id="{7864269C-178A-B5E6-03E7-C55861AD6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925800" y="9728200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BBDDE3-56DE-A997-B3FD-1BE23E0DE5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FF2ECA84-1D46-2EFB-997C-71E424257B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1100" y="-1549400"/>
            <a:ext cx="13373100" cy="13373100"/>
          </a:xfrm>
          <a:prstGeom prst="rect">
            <a:avLst/>
          </a:prstGeom>
        </p:spPr>
      </p:pic>
      <p:sp>
        <p:nvSpPr>
          <p:cNvPr id="4" name="TextBox 4">
            <a:extLst>
              <a:ext uri="{FF2B5EF4-FFF2-40B4-BE49-F238E27FC236}">
                <a16:creationId xmlns:a16="http://schemas.microsoft.com/office/drawing/2014/main" id="{BFEB7EF8-F79D-38A1-4992-5639647CDCA1}"/>
              </a:ext>
            </a:extLst>
          </p:cNvPr>
          <p:cNvSpPr txBox="1"/>
          <p:nvPr/>
        </p:nvSpPr>
        <p:spPr>
          <a:xfrm>
            <a:off x="1346200" y="1308100"/>
            <a:ext cx="4457700" cy="1168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>
              <a:lnSpc>
                <a:spcPct val="95449"/>
              </a:lnSpc>
            </a:pPr>
            <a:r>
              <a:rPr lang="ko-KR" altLang="en-US" sz="6500" dirty="0">
                <a:solidFill>
                  <a:srgbClr val="323232"/>
                </a:solidFill>
                <a:ea typeface="Pretendard SemiBold"/>
              </a:rPr>
              <a:t>개발 현황</a:t>
            </a:r>
            <a:endParaRPr lang="ko-KR" altLang="ko-KR" sz="6500" dirty="0">
              <a:solidFill>
                <a:srgbClr val="323232"/>
              </a:solidFill>
              <a:ea typeface="Pretendard SemiBold"/>
            </a:endParaRP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BFDCE980-3BB4-CE99-28CA-7B31679A2698}"/>
              </a:ext>
            </a:extLst>
          </p:cNvPr>
          <p:cNvSpPr txBox="1"/>
          <p:nvPr/>
        </p:nvSpPr>
        <p:spPr>
          <a:xfrm>
            <a:off x="1346200" y="2514600"/>
            <a:ext cx="6337300" cy="419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>
              <a:lnSpc>
                <a:spcPct val="95449"/>
              </a:lnSpc>
            </a:pPr>
            <a:r>
              <a:rPr lang="en-US" altLang="ko-KR" sz="2400" i="1" dirty="0">
                <a:solidFill>
                  <a:srgbClr val="323232"/>
                </a:solidFill>
                <a:latin typeface="Baskerville Old Face"/>
              </a:rPr>
              <a:t>Development Status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DB81B2DE-623B-BEBA-17BC-830FCFE52DA4}"/>
              </a:ext>
            </a:extLst>
          </p:cNvPr>
          <p:cNvSpPr txBox="1"/>
          <p:nvPr/>
        </p:nvSpPr>
        <p:spPr>
          <a:xfrm>
            <a:off x="7023100" y="2400300"/>
            <a:ext cx="9829800" cy="520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16199"/>
              </a:lnSpc>
            </a:pPr>
            <a:r>
              <a:rPr lang="ko-KR" altLang="en-US" sz="3000" b="0" i="0" u="none" strike="noStrike" dirty="0">
                <a:solidFill>
                  <a:srgbClr val="000000"/>
                </a:solidFill>
                <a:ea typeface="Pretendard SemiBold"/>
              </a:rPr>
              <a:t>현재 개발하고 있는 게임의 핵심 시스템입니다</a:t>
            </a:r>
            <a:r>
              <a:rPr lang="en-US" altLang="ko-KR" sz="3000" b="0" i="0" u="none" strike="noStrike" dirty="0">
                <a:solidFill>
                  <a:srgbClr val="000000"/>
                </a:solidFill>
                <a:ea typeface="Pretendard SemiBold"/>
              </a:rPr>
              <a:t>.</a:t>
            </a:r>
            <a:endParaRPr lang="en-US" sz="3000" b="0" i="0" u="none" strike="noStrike" dirty="0">
              <a:solidFill>
                <a:srgbClr val="000000"/>
              </a:solidFill>
              <a:latin typeface="Pretendard SemiBold"/>
            </a:endParaRPr>
          </a:p>
        </p:txBody>
      </p:sp>
      <p:grpSp>
        <p:nvGrpSpPr>
          <p:cNvPr id="8" name="Group 8">
            <a:extLst>
              <a:ext uri="{FF2B5EF4-FFF2-40B4-BE49-F238E27FC236}">
                <a16:creationId xmlns:a16="http://schemas.microsoft.com/office/drawing/2014/main" id="{233008E2-52BA-5C13-BEA4-41D1AD214602}"/>
              </a:ext>
            </a:extLst>
          </p:cNvPr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9" name="Picture 9">
            <a:extLst>
              <a:ext uri="{FF2B5EF4-FFF2-40B4-BE49-F238E27FC236}">
                <a16:creationId xmlns:a16="http://schemas.microsoft.com/office/drawing/2014/main" id="{60D9F40E-378D-8E96-1833-CEF6784B07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2700" y="3619500"/>
            <a:ext cx="7620000" cy="1473200"/>
          </a:xfrm>
          <a:prstGeom prst="rect">
            <a:avLst/>
          </a:prstGeom>
        </p:spPr>
      </p:pic>
      <p:grpSp>
        <p:nvGrpSpPr>
          <p:cNvPr id="10" name="Group 10">
            <a:extLst>
              <a:ext uri="{FF2B5EF4-FFF2-40B4-BE49-F238E27FC236}">
                <a16:creationId xmlns:a16="http://schemas.microsoft.com/office/drawing/2014/main" id="{7EF45093-9E6F-909C-B807-CDBA11FEFC54}"/>
              </a:ext>
            </a:extLst>
          </p:cNvPr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2FF7BE45-0C7A-3338-F757-A61C086F7D56}"/>
              </a:ext>
            </a:extLst>
          </p:cNvPr>
          <p:cNvGrpSpPr/>
          <p:nvPr/>
        </p:nvGrpSpPr>
        <p:grpSpPr>
          <a:xfrm>
            <a:off x="1600200" y="3924300"/>
            <a:ext cx="381000" cy="381000"/>
            <a:chOff x="1638300" y="4152900"/>
            <a:chExt cx="381000" cy="381000"/>
          </a:xfrm>
        </p:grpSpPr>
        <p:pic>
          <p:nvPicPr>
            <p:cNvPr id="11" name="Picture 11">
              <a:extLst>
                <a:ext uri="{FF2B5EF4-FFF2-40B4-BE49-F238E27FC236}">
                  <a16:creationId xmlns:a16="http://schemas.microsoft.com/office/drawing/2014/main" id="{B2DBA9A2-1D06-0EE3-28F2-6ABDDE26987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638300" y="4152900"/>
              <a:ext cx="381000" cy="381000"/>
            </a:xfrm>
            <a:prstGeom prst="rect">
              <a:avLst/>
            </a:prstGeom>
          </p:spPr>
        </p:pic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56FB36C7-61A1-4A38-AAD2-20DB568E34F0}"/>
                </a:ext>
              </a:extLst>
            </p:cNvPr>
            <p:cNvSpPr txBox="1"/>
            <p:nvPr/>
          </p:nvSpPr>
          <p:spPr>
            <a:xfrm>
              <a:off x="1701800" y="4165600"/>
              <a:ext cx="254000" cy="3429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5449"/>
                </a:lnSpc>
              </a:pPr>
              <a:r>
                <a:rPr lang="en-US" sz="2000" b="0" i="0" u="none" strike="noStrike" dirty="0">
                  <a:solidFill>
                    <a:srgbClr val="FAFAFA"/>
                  </a:solidFill>
                  <a:latin typeface="Pretendard Bold"/>
                </a:rPr>
                <a:t>1</a:t>
              </a:r>
            </a:p>
          </p:txBody>
        </p:sp>
      </p:grpSp>
      <p:sp>
        <p:nvSpPr>
          <p:cNvPr id="13" name="TextBox 13">
            <a:extLst>
              <a:ext uri="{FF2B5EF4-FFF2-40B4-BE49-F238E27FC236}">
                <a16:creationId xmlns:a16="http://schemas.microsoft.com/office/drawing/2014/main" id="{356821A1-C372-FB18-D58C-45E5C2F586EA}"/>
              </a:ext>
            </a:extLst>
          </p:cNvPr>
          <p:cNvSpPr txBox="1"/>
          <p:nvPr/>
        </p:nvSpPr>
        <p:spPr>
          <a:xfrm>
            <a:off x="2209800" y="3771900"/>
            <a:ext cx="6197600" cy="584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5449"/>
              </a:lnSpc>
            </a:pPr>
            <a:r>
              <a:rPr lang="ko-KR" altLang="en-US" sz="2400" b="0" i="0" u="none" strike="noStrike" dirty="0">
                <a:solidFill>
                  <a:srgbClr val="32323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영수증 관리 시스템</a:t>
            </a:r>
            <a:endParaRPr lang="en-US" sz="2400" b="0" i="0" u="none" strike="noStrike" dirty="0">
              <a:solidFill>
                <a:srgbClr val="323232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grpSp>
        <p:nvGrpSpPr>
          <p:cNvPr id="14" name="Group 14">
            <a:extLst>
              <a:ext uri="{FF2B5EF4-FFF2-40B4-BE49-F238E27FC236}">
                <a16:creationId xmlns:a16="http://schemas.microsoft.com/office/drawing/2014/main" id="{5E5B0371-A637-AF18-39BD-590064F23EF0}"/>
              </a:ext>
            </a:extLst>
          </p:cNvPr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5" name="Picture 15">
            <a:extLst>
              <a:ext uri="{FF2B5EF4-FFF2-40B4-BE49-F238E27FC236}">
                <a16:creationId xmlns:a16="http://schemas.microsoft.com/office/drawing/2014/main" id="{DCA63F12-4B83-2BC0-BDDA-474A7EFFCF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5300" y="3619500"/>
            <a:ext cx="7620000" cy="1473200"/>
          </a:xfrm>
          <a:prstGeom prst="rect">
            <a:avLst/>
          </a:prstGeom>
        </p:spPr>
      </p:pic>
      <p:grpSp>
        <p:nvGrpSpPr>
          <p:cNvPr id="16" name="Group 16">
            <a:extLst>
              <a:ext uri="{FF2B5EF4-FFF2-40B4-BE49-F238E27FC236}">
                <a16:creationId xmlns:a16="http://schemas.microsoft.com/office/drawing/2014/main" id="{3B32E048-30B3-713B-7C81-E48B817A31DB}"/>
              </a:ext>
            </a:extLst>
          </p:cNvPr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AC2D47DE-8485-EA45-72CA-20456CB6F4EF}"/>
              </a:ext>
            </a:extLst>
          </p:cNvPr>
          <p:cNvGrpSpPr/>
          <p:nvPr/>
        </p:nvGrpSpPr>
        <p:grpSpPr>
          <a:xfrm>
            <a:off x="9690100" y="3924300"/>
            <a:ext cx="381000" cy="381000"/>
            <a:chOff x="9728200" y="4152900"/>
            <a:chExt cx="381000" cy="381000"/>
          </a:xfrm>
        </p:grpSpPr>
        <p:pic>
          <p:nvPicPr>
            <p:cNvPr id="17" name="Picture 17">
              <a:extLst>
                <a:ext uri="{FF2B5EF4-FFF2-40B4-BE49-F238E27FC236}">
                  <a16:creationId xmlns:a16="http://schemas.microsoft.com/office/drawing/2014/main" id="{0AF3DEEC-7551-3DAA-03BD-0B1C4E158DA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728200" y="4152900"/>
              <a:ext cx="381000" cy="381000"/>
            </a:xfrm>
            <a:prstGeom prst="rect">
              <a:avLst/>
            </a:prstGeom>
          </p:spPr>
        </p:pic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216EAB38-9058-DFAF-3105-6E14DC502119}"/>
                </a:ext>
              </a:extLst>
            </p:cNvPr>
            <p:cNvSpPr txBox="1"/>
            <p:nvPr/>
          </p:nvSpPr>
          <p:spPr>
            <a:xfrm>
              <a:off x="9791700" y="4165600"/>
              <a:ext cx="254000" cy="3429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5449"/>
                </a:lnSpc>
              </a:pPr>
              <a:r>
                <a:rPr lang="en-US" sz="2000" b="0" i="0" u="none" strike="noStrike" dirty="0">
                  <a:solidFill>
                    <a:srgbClr val="FAFAFA"/>
                  </a:solidFill>
                  <a:latin typeface="Pretendard Bold"/>
                </a:rPr>
                <a:t>2</a:t>
              </a:r>
            </a:p>
          </p:txBody>
        </p:sp>
      </p:grpSp>
      <p:sp>
        <p:nvSpPr>
          <p:cNvPr id="19" name="TextBox 19">
            <a:extLst>
              <a:ext uri="{FF2B5EF4-FFF2-40B4-BE49-F238E27FC236}">
                <a16:creationId xmlns:a16="http://schemas.microsoft.com/office/drawing/2014/main" id="{FA3D405A-43A0-346A-C9B0-95CAB09FE68C}"/>
              </a:ext>
            </a:extLst>
          </p:cNvPr>
          <p:cNvSpPr txBox="1"/>
          <p:nvPr/>
        </p:nvSpPr>
        <p:spPr>
          <a:xfrm>
            <a:off x="10312400" y="3771900"/>
            <a:ext cx="6197600" cy="584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5449"/>
              </a:lnSpc>
            </a:pPr>
            <a:r>
              <a:rPr lang="ko-KR" altLang="en-US" sz="2400" b="0" i="0" u="none" strike="noStrike" dirty="0">
                <a:solidFill>
                  <a:srgbClr val="32323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재고 관리 시스템</a:t>
            </a:r>
            <a:endParaRPr lang="en-US" sz="2400" b="0" i="0" u="none" strike="noStrike" dirty="0">
              <a:solidFill>
                <a:srgbClr val="323232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grpSp>
        <p:nvGrpSpPr>
          <p:cNvPr id="20" name="Group 20">
            <a:extLst>
              <a:ext uri="{FF2B5EF4-FFF2-40B4-BE49-F238E27FC236}">
                <a16:creationId xmlns:a16="http://schemas.microsoft.com/office/drawing/2014/main" id="{D3B038AD-0DDA-F103-CFD4-89E1105A0627}"/>
              </a:ext>
            </a:extLst>
          </p:cNvPr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1" name="Picture 21">
            <a:extLst>
              <a:ext uri="{FF2B5EF4-FFF2-40B4-BE49-F238E27FC236}">
                <a16:creationId xmlns:a16="http://schemas.microsoft.com/office/drawing/2014/main" id="{6F675760-BE92-80C3-07BE-6C4B400CDB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2700" y="5270500"/>
            <a:ext cx="7620000" cy="1473200"/>
          </a:xfrm>
          <a:prstGeom prst="rect">
            <a:avLst/>
          </a:prstGeom>
        </p:spPr>
      </p:pic>
      <p:grpSp>
        <p:nvGrpSpPr>
          <p:cNvPr id="22" name="Group 22">
            <a:extLst>
              <a:ext uri="{FF2B5EF4-FFF2-40B4-BE49-F238E27FC236}">
                <a16:creationId xmlns:a16="http://schemas.microsoft.com/office/drawing/2014/main" id="{EFEABC0E-771D-A566-BF43-B4010D0A8B5C}"/>
              </a:ext>
            </a:extLst>
          </p:cNvPr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BED5FBF8-6941-3045-0D8E-277F4AAC6B12}"/>
              </a:ext>
            </a:extLst>
          </p:cNvPr>
          <p:cNvGrpSpPr/>
          <p:nvPr/>
        </p:nvGrpSpPr>
        <p:grpSpPr>
          <a:xfrm>
            <a:off x="1600200" y="5600700"/>
            <a:ext cx="381000" cy="381000"/>
            <a:chOff x="1638300" y="5816600"/>
            <a:chExt cx="381000" cy="381000"/>
          </a:xfrm>
        </p:grpSpPr>
        <p:pic>
          <p:nvPicPr>
            <p:cNvPr id="23" name="Picture 23">
              <a:extLst>
                <a:ext uri="{FF2B5EF4-FFF2-40B4-BE49-F238E27FC236}">
                  <a16:creationId xmlns:a16="http://schemas.microsoft.com/office/drawing/2014/main" id="{5D8D23C5-DE7E-4C3E-77A0-71F0077BF1A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638300" y="5816600"/>
              <a:ext cx="381000" cy="381000"/>
            </a:xfrm>
            <a:prstGeom prst="rect">
              <a:avLst/>
            </a:prstGeom>
          </p:spPr>
        </p:pic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0C598BF1-FBC0-9449-4178-D02DA6764B19}"/>
                </a:ext>
              </a:extLst>
            </p:cNvPr>
            <p:cNvSpPr txBox="1"/>
            <p:nvPr/>
          </p:nvSpPr>
          <p:spPr>
            <a:xfrm>
              <a:off x="1701800" y="5816600"/>
              <a:ext cx="254000" cy="3429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5449"/>
                </a:lnSpc>
              </a:pPr>
              <a:r>
                <a:rPr lang="en-US" sz="2000" b="0" i="0" u="none" strike="noStrike" dirty="0">
                  <a:solidFill>
                    <a:srgbClr val="FAFAFA"/>
                  </a:solidFill>
                  <a:latin typeface="Pretendard Bold"/>
                </a:rPr>
                <a:t>3</a:t>
              </a:r>
            </a:p>
          </p:txBody>
        </p:sp>
      </p:grpSp>
      <p:sp>
        <p:nvSpPr>
          <p:cNvPr id="25" name="TextBox 25">
            <a:extLst>
              <a:ext uri="{FF2B5EF4-FFF2-40B4-BE49-F238E27FC236}">
                <a16:creationId xmlns:a16="http://schemas.microsoft.com/office/drawing/2014/main" id="{36E425F7-C9E3-EE68-70F5-AAD591BBD26E}"/>
              </a:ext>
            </a:extLst>
          </p:cNvPr>
          <p:cNvSpPr txBox="1"/>
          <p:nvPr/>
        </p:nvSpPr>
        <p:spPr>
          <a:xfrm>
            <a:off x="2209800" y="5422900"/>
            <a:ext cx="6197600" cy="584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5449"/>
              </a:lnSpc>
            </a:pPr>
            <a:r>
              <a:rPr lang="ko-KR" altLang="en-US" sz="2400" b="0" i="0" u="none" strike="noStrike" dirty="0">
                <a:solidFill>
                  <a:srgbClr val="32323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조리 및 포장 시스템</a:t>
            </a:r>
            <a:endParaRPr lang="en-US" sz="2400" b="0" i="0" u="none" strike="noStrike" dirty="0">
              <a:solidFill>
                <a:srgbClr val="323232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grpSp>
        <p:nvGrpSpPr>
          <p:cNvPr id="26" name="Group 26">
            <a:extLst>
              <a:ext uri="{FF2B5EF4-FFF2-40B4-BE49-F238E27FC236}">
                <a16:creationId xmlns:a16="http://schemas.microsoft.com/office/drawing/2014/main" id="{E135E3A8-175C-A9D0-32AE-58F1C83F9E49}"/>
              </a:ext>
            </a:extLst>
          </p:cNvPr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7" name="Picture 27">
            <a:extLst>
              <a:ext uri="{FF2B5EF4-FFF2-40B4-BE49-F238E27FC236}">
                <a16:creationId xmlns:a16="http://schemas.microsoft.com/office/drawing/2014/main" id="{798DABDB-AD07-F4A1-D08A-783BE95910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0" y="5270500"/>
            <a:ext cx="7620000" cy="1473200"/>
          </a:xfrm>
          <a:prstGeom prst="rect">
            <a:avLst/>
          </a:prstGeom>
        </p:spPr>
      </p:pic>
      <p:grpSp>
        <p:nvGrpSpPr>
          <p:cNvPr id="28" name="Group 28">
            <a:extLst>
              <a:ext uri="{FF2B5EF4-FFF2-40B4-BE49-F238E27FC236}">
                <a16:creationId xmlns:a16="http://schemas.microsoft.com/office/drawing/2014/main" id="{73466C0C-4256-3FF3-B5B1-50E65CC2D12A}"/>
              </a:ext>
            </a:extLst>
          </p:cNvPr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0CDB92AE-3EB6-4C73-7D0B-16406D9C79A2}"/>
              </a:ext>
            </a:extLst>
          </p:cNvPr>
          <p:cNvGrpSpPr/>
          <p:nvPr/>
        </p:nvGrpSpPr>
        <p:grpSpPr>
          <a:xfrm>
            <a:off x="9690100" y="5600700"/>
            <a:ext cx="381000" cy="381000"/>
            <a:chOff x="9728200" y="5816600"/>
            <a:chExt cx="381000" cy="381000"/>
          </a:xfrm>
        </p:grpSpPr>
        <p:pic>
          <p:nvPicPr>
            <p:cNvPr id="29" name="Picture 29">
              <a:extLst>
                <a:ext uri="{FF2B5EF4-FFF2-40B4-BE49-F238E27FC236}">
                  <a16:creationId xmlns:a16="http://schemas.microsoft.com/office/drawing/2014/main" id="{27F32708-D1F5-6FA4-788F-B0B7D8C2268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728200" y="5816600"/>
              <a:ext cx="381000" cy="381000"/>
            </a:xfrm>
            <a:prstGeom prst="rect">
              <a:avLst/>
            </a:prstGeom>
          </p:spPr>
        </p:pic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55B740DC-B511-66BD-CD0E-F0CCE4826086}"/>
                </a:ext>
              </a:extLst>
            </p:cNvPr>
            <p:cNvSpPr txBox="1"/>
            <p:nvPr/>
          </p:nvSpPr>
          <p:spPr>
            <a:xfrm>
              <a:off x="9791700" y="5816600"/>
              <a:ext cx="254000" cy="3429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5449"/>
                </a:lnSpc>
              </a:pPr>
              <a:r>
                <a:rPr lang="en-US" sz="2000" b="0" i="0" u="none" strike="noStrike">
                  <a:solidFill>
                    <a:srgbClr val="FAFAFA"/>
                  </a:solidFill>
                  <a:latin typeface="Pretendard Bold"/>
                </a:rPr>
                <a:t>4</a:t>
              </a:r>
            </a:p>
          </p:txBody>
        </p:sp>
      </p:grpSp>
      <p:sp>
        <p:nvSpPr>
          <p:cNvPr id="31" name="TextBox 31">
            <a:extLst>
              <a:ext uri="{FF2B5EF4-FFF2-40B4-BE49-F238E27FC236}">
                <a16:creationId xmlns:a16="http://schemas.microsoft.com/office/drawing/2014/main" id="{5313A3C1-D467-8F2B-535D-F4561B095ACB}"/>
              </a:ext>
            </a:extLst>
          </p:cNvPr>
          <p:cNvSpPr txBox="1"/>
          <p:nvPr/>
        </p:nvSpPr>
        <p:spPr>
          <a:xfrm>
            <a:off x="10299700" y="5422900"/>
            <a:ext cx="6197600" cy="584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5449"/>
              </a:lnSpc>
            </a:pPr>
            <a:r>
              <a:rPr lang="ko-KR" altLang="en-US" sz="2400" b="0" i="0" u="none" strike="noStrike" dirty="0">
                <a:solidFill>
                  <a:srgbClr val="32323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경제 시스템</a:t>
            </a:r>
            <a:endParaRPr lang="en-US" sz="2400" b="0" i="0" u="none" strike="noStrike" dirty="0">
              <a:solidFill>
                <a:srgbClr val="323232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grpSp>
        <p:nvGrpSpPr>
          <p:cNvPr id="32" name="Group 32">
            <a:extLst>
              <a:ext uri="{FF2B5EF4-FFF2-40B4-BE49-F238E27FC236}">
                <a16:creationId xmlns:a16="http://schemas.microsoft.com/office/drawing/2014/main" id="{5F0EDEBC-D1DD-DA1B-ED44-25FEF85B85A0}"/>
              </a:ext>
            </a:extLst>
          </p:cNvPr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40" name="TextBox 13">
            <a:extLst>
              <a:ext uri="{FF2B5EF4-FFF2-40B4-BE49-F238E27FC236}">
                <a16:creationId xmlns:a16="http://schemas.microsoft.com/office/drawing/2014/main" id="{D8D87241-A9AB-207A-2CAC-7A633C7B728A}"/>
              </a:ext>
            </a:extLst>
          </p:cNvPr>
          <p:cNvSpPr txBox="1"/>
          <p:nvPr/>
        </p:nvSpPr>
        <p:spPr>
          <a:xfrm>
            <a:off x="2362200" y="4279900"/>
            <a:ext cx="6197600" cy="584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285750" lvl="0" indent="-285750" algn="l">
              <a:lnSpc>
                <a:spcPct val="95449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rgbClr val="32323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메뉴와 재료 데이터베이스에 따라 랜덤 영수증 생성</a:t>
            </a:r>
            <a:endParaRPr lang="en-US" altLang="ko-KR" dirty="0">
              <a:solidFill>
                <a:srgbClr val="32323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marL="285750" lvl="0" indent="-285750" algn="l">
              <a:lnSpc>
                <a:spcPct val="95449"/>
              </a:lnSpc>
              <a:buFont typeface="Arial" panose="020B0604020202020204" pitchFamily="34" charset="0"/>
              <a:buChar char="•"/>
            </a:pPr>
            <a:r>
              <a:rPr lang="ko-KR" altLang="en-US" b="0" i="0" u="none" strike="noStrike" dirty="0">
                <a:solidFill>
                  <a:srgbClr val="32323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영수증은 슬롯으로 관리</a:t>
            </a:r>
            <a:r>
              <a:rPr lang="en-US" altLang="ko-KR" b="0" i="0" u="none" strike="noStrike" dirty="0">
                <a:solidFill>
                  <a:srgbClr val="32323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b="0" i="0" u="none" strike="noStrike" dirty="0">
                <a:solidFill>
                  <a:srgbClr val="32323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드래그 </a:t>
            </a:r>
            <a:r>
              <a:rPr lang="en-US" altLang="ko-KR" dirty="0">
                <a:solidFill>
                  <a:srgbClr val="32323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&amp; </a:t>
            </a:r>
            <a:r>
              <a:rPr lang="ko-KR" altLang="en-US" dirty="0">
                <a:solidFill>
                  <a:srgbClr val="32323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드롭 기반 </a:t>
            </a:r>
            <a:r>
              <a:rPr lang="en-US" altLang="ko-KR" dirty="0">
                <a:solidFill>
                  <a:srgbClr val="32323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UI</a:t>
            </a:r>
            <a:endParaRPr lang="en-US" b="0" i="0" u="none" strike="noStrike" dirty="0">
              <a:solidFill>
                <a:srgbClr val="32323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42" name="TextBox 13">
            <a:extLst>
              <a:ext uri="{FF2B5EF4-FFF2-40B4-BE49-F238E27FC236}">
                <a16:creationId xmlns:a16="http://schemas.microsoft.com/office/drawing/2014/main" id="{19B368C6-44BF-C878-F025-82447EA582A7}"/>
              </a:ext>
            </a:extLst>
          </p:cNvPr>
          <p:cNvSpPr txBox="1"/>
          <p:nvPr/>
        </p:nvSpPr>
        <p:spPr>
          <a:xfrm>
            <a:off x="10490200" y="4279900"/>
            <a:ext cx="6197600" cy="584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285750" lvl="0" indent="-285750" algn="l">
              <a:lnSpc>
                <a:spcPct val="95449"/>
              </a:lnSpc>
              <a:buFont typeface="Arial" panose="020B0604020202020204" pitchFamily="34" charset="0"/>
              <a:buChar char="•"/>
            </a:pPr>
            <a:r>
              <a:rPr lang="ko-KR" altLang="en-US" b="0" i="0" u="none" strike="noStrike" dirty="0">
                <a:solidFill>
                  <a:srgbClr val="32323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떡볶이를 </a:t>
            </a:r>
            <a:r>
              <a:rPr lang="ko-KR" altLang="en-US" b="0" i="0" u="none" strike="noStrike">
                <a:solidFill>
                  <a:srgbClr val="32323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조리할 때마다 </a:t>
            </a:r>
            <a:r>
              <a:rPr lang="ko-KR" altLang="en-US" b="0" i="0" u="none" strike="noStrike" dirty="0">
                <a:solidFill>
                  <a:srgbClr val="32323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재고 차감</a:t>
            </a:r>
            <a:endParaRPr lang="en-US" altLang="ko-KR" b="0" i="0" u="none" strike="noStrike" dirty="0">
              <a:solidFill>
                <a:srgbClr val="32323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marL="285750" lvl="0" indent="-285750">
              <a:lnSpc>
                <a:spcPct val="95449"/>
              </a:lnSpc>
              <a:buFont typeface="Arial" panose="020B0604020202020204" pitchFamily="34" charset="0"/>
              <a:buChar char="•"/>
            </a:pPr>
            <a:r>
              <a:rPr lang="ko-KR" altLang="en-US">
                <a:solidFill>
                  <a:srgbClr val="32323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재료마다 정해진 단가 있음</a:t>
            </a:r>
            <a:r>
              <a:rPr lang="en-US" altLang="ko-KR">
                <a:solidFill>
                  <a:srgbClr val="32323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>
                <a:solidFill>
                  <a:srgbClr val="32323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플레이어가 자유롭게 재고 주문 가능</a:t>
            </a:r>
            <a:endParaRPr lang="en-US" b="0" i="0" u="none" strike="noStrike" dirty="0">
              <a:solidFill>
                <a:srgbClr val="32323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43" name="TextBox 13">
            <a:extLst>
              <a:ext uri="{FF2B5EF4-FFF2-40B4-BE49-F238E27FC236}">
                <a16:creationId xmlns:a16="http://schemas.microsoft.com/office/drawing/2014/main" id="{1BB9AA5E-94B4-E563-8572-FAA10905C952}"/>
              </a:ext>
            </a:extLst>
          </p:cNvPr>
          <p:cNvSpPr txBox="1"/>
          <p:nvPr/>
        </p:nvSpPr>
        <p:spPr>
          <a:xfrm>
            <a:off x="10490200" y="5956300"/>
            <a:ext cx="6197600" cy="584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285750" lvl="0" indent="-285750" algn="l">
              <a:lnSpc>
                <a:spcPct val="95449"/>
              </a:lnSpc>
              <a:buFont typeface="Arial" panose="020B0604020202020204" pitchFamily="34" charset="0"/>
              <a:buChar char="•"/>
            </a:pPr>
            <a:r>
              <a:rPr lang="ko-KR" altLang="en-US" b="0" i="0" u="none" strike="noStrike" dirty="0">
                <a:solidFill>
                  <a:srgbClr val="32323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재료 별 이윤이 조금씩 다름 </a:t>
            </a:r>
            <a:r>
              <a:rPr lang="en-US" altLang="ko-KR" b="0" i="0" u="none" strike="noStrike" dirty="0">
                <a:solidFill>
                  <a:srgbClr val="32323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-&gt; </a:t>
            </a:r>
            <a:r>
              <a:rPr lang="ko-KR" altLang="en-US" b="0" i="0" u="none" strike="noStrike" dirty="0">
                <a:solidFill>
                  <a:srgbClr val="32323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약간의 전략 요소</a:t>
            </a:r>
            <a:endParaRPr lang="en-US" altLang="ko-KR" b="0" i="0" u="none" strike="noStrike" dirty="0">
              <a:solidFill>
                <a:srgbClr val="32323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marL="285750" lvl="0" indent="-285750" algn="l">
              <a:lnSpc>
                <a:spcPct val="95449"/>
              </a:lnSpc>
              <a:buFont typeface="Arial" panose="020B0604020202020204" pitchFamily="34" charset="0"/>
              <a:buChar char="•"/>
            </a:pPr>
            <a:r>
              <a:rPr lang="ko-KR" altLang="en-US" b="0" i="0" u="none" strike="noStrike" dirty="0">
                <a:solidFill>
                  <a:srgbClr val="32323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성공한 주문의 일정 비율만큼 자동으로 </a:t>
            </a:r>
            <a:r>
              <a:rPr lang="ko-KR" altLang="en-US" dirty="0">
                <a:solidFill>
                  <a:srgbClr val="32323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납세</a:t>
            </a:r>
            <a:endParaRPr lang="en-US" b="0" i="0" u="none" strike="noStrike" dirty="0">
              <a:solidFill>
                <a:srgbClr val="32323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44" name="TextBox 13">
            <a:extLst>
              <a:ext uri="{FF2B5EF4-FFF2-40B4-BE49-F238E27FC236}">
                <a16:creationId xmlns:a16="http://schemas.microsoft.com/office/drawing/2014/main" id="{4533B912-B47C-10D9-E640-78FB10BF3949}"/>
              </a:ext>
            </a:extLst>
          </p:cNvPr>
          <p:cNvSpPr txBox="1"/>
          <p:nvPr/>
        </p:nvSpPr>
        <p:spPr>
          <a:xfrm>
            <a:off x="2362200" y="5956300"/>
            <a:ext cx="6197600" cy="584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285750" lvl="0" indent="-285750" algn="l">
              <a:lnSpc>
                <a:spcPct val="95449"/>
              </a:lnSpc>
              <a:buFont typeface="Arial" panose="020B0604020202020204" pitchFamily="34" charset="0"/>
              <a:buChar char="•"/>
            </a:pPr>
            <a:r>
              <a:rPr lang="ko-KR" altLang="en-US">
                <a:solidFill>
                  <a:srgbClr val="32323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조리</a:t>
            </a:r>
            <a:r>
              <a:rPr lang="ko-KR" altLang="en-US" b="0" i="0" u="none" strike="noStrike">
                <a:solidFill>
                  <a:srgbClr val="32323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된 </a:t>
            </a:r>
            <a:r>
              <a:rPr lang="ko-KR" altLang="en-US" b="0" i="0" u="none" strike="noStrike" dirty="0">
                <a:solidFill>
                  <a:srgbClr val="32323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음식이 어떤 재료로 이루어졌는지 </a:t>
            </a:r>
            <a:r>
              <a:rPr lang="en-US" altLang="ko-KR" b="0" i="0" u="none" strike="noStrike" dirty="0">
                <a:solidFill>
                  <a:srgbClr val="32323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UI</a:t>
            </a:r>
            <a:r>
              <a:rPr lang="ko-KR" altLang="en-US" dirty="0">
                <a:solidFill>
                  <a:srgbClr val="32323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로 표시</a:t>
            </a:r>
            <a:endParaRPr lang="en-US" altLang="ko-KR" dirty="0">
              <a:solidFill>
                <a:srgbClr val="32323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marL="285750" lvl="0" indent="-285750">
              <a:lnSpc>
                <a:spcPct val="95449"/>
              </a:lnSpc>
              <a:buFont typeface="Arial" panose="020B0604020202020204" pitchFamily="34" charset="0"/>
              <a:buChar char="•"/>
            </a:pPr>
            <a:r>
              <a:rPr lang="ko-KR" altLang="en-US">
                <a:solidFill>
                  <a:srgbClr val="32323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포장대 슬롯으로 관리</a:t>
            </a:r>
            <a:r>
              <a:rPr lang="en-US" altLang="ko-KR">
                <a:solidFill>
                  <a:srgbClr val="32323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>
                <a:solidFill>
                  <a:srgbClr val="32323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슬롯 별 스택형 구조를 띔</a:t>
            </a:r>
            <a:endParaRPr lang="en-US" b="0" i="0" u="none" strike="noStrike" dirty="0">
              <a:solidFill>
                <a:srgbClr val="32323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pic>
        <p:nvPicPr>
          <p:cNvPr id="45" name="Picture 21">
            <a:extLst>
              <a:ext uri="{FF2B5EF4-FFF2-40B4-BE49-F238E27FC236}">
                <a16:creationId xmlns:a16="http://schemas.microsoft.com/office/drawing/2014/main" id="{6C104973-EE7D-3931-0920-ECCE3B53C3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4412" y="6946900"/>
            <a:ext cx="7620000" cy="1473200"/>
          </a:xfrm>
          <a:prstGeom prst="rect">
            <a:avLst/>
          </a:prstGeom>
        </p:spPr>
      </p:pic>
      <p:grpSp>
        <p:nvGrpSpPr>
          <p:cNvPr id="46" name="그룹 45">
            <a:extLst>
              <a:ext uri="{FF2B5EF4-FFF2-40B4-BE49-F238E27FC236}">
                <a16:creationId xmlns:a16="http://schemas.microsoft.com/office/drawing/2014/main" id="{C3AD7D18-A85D-5BAA-BC34-E15D17FF8502}"/>
              </a:ext>
            </a:extLst>
          </p:cNvPr>
          <p:cNvGrpSpPr/>
          <p:nvPr/>
        </p:nvGrpSpPr>
        <p:grpSpPr>
          <a:xfrm>
            <a:off x="1581912" y="7277100"/>
            <a:ext cx="381000" cy="381000"/>
            <a:chOff x="1638300" y="5816600"/>
            <a:chExt cx="381000" cy="381000"/>
          </a:xfrm>
        </p:grpSpPr>
        <p:pic>
          <p:nvPicPr>
            <p:cNvPr id="47" name="Picture 23">
              <a:extLst>
                <a:ext uri="{FF2B5EF4-FFF2-40B4-BE49-F238E27FC236}">
                  <a16:creationId xmlns:a16="http://schemas.microsoft.com/office/drawing/2014/main" id="{D749318D-447B-0112-053F-B28B5D270BA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638300" y="5816600"/>
              <a:ext cx="381000" cy="381000"/>
            </a:xfrm>
            <a:prstGeom prst="rect">
              <a:avLst/>
            </a:prstGeom>
          </p:spPr>
        </p:pic>
        <p:sp>
          <p:nvSpPr>
            <p:cNvPr id="48" name="TextBox 24">
              <a:extLst>
                <a:ext uri="{FF2B5EF4-FFF2-40B4-BE49-F238E27FC236}">
                  <a16:creationId xmlns:a16="http://schemas.microsoft.com/office/drawing/2014/main" id="{5E957FD6-5863-64E8-03F5-37B481A9C6CE}"/>
                </a:ext>
              </a:extLst>
            </p:cNvPr>
            <p:cNvSpPr txBox="1"/>
            <p:nvPr/>
          </p:nvSpPr>
          <p:spPr>
            <a:xfrm>
              <a:off x="1701800" y="5816600"/>
              <a:ext cx="254000" cy="3429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5449"/>
                </a:lnSpc>
              </a:pPr>
              <a:r>
                <a:rPr lang="en-US" sz="2000" dirty="0">
                  <a:solidFill>
                    <a:srgbClr val="FAFAFA"/>
                  </a:solidFill>
                  <a:latin typeface="Pretendard Bold"/>
                </a:rPr>
                <a:t>5</a:t>
              </a:r>
              <a:endParaRPr lang="en-US" sz="2000" b="0" i="0" u="none" strike="noStrike" dirty="0">
                <a:solidFill>
                  <a:srgbClr val="FAFAFA"/>
                </a:solidFill>
                <a:latin typeface="Pretendard Bold"/>
              </a:endParaRPr>
            </a:p>
          </p:txBody>
        </p:sp>
      </p:grpSp>
      <p:sp>
        <p:nvSpPr>
          <p:cNvPr id="49" name="TextBox 25">
            <a:extLst>
              <a:ext uri="{FF2B5EF4-FFF2-40B4-BE49-F238E27FC236}">
                <a16:creationId xmlns:a16="http://schemas.microsoft.com/office/drawing/2014/main" id="{F8B39030-A288-E96E-2416-39518E8255CB}"/>
              </a:ext>
            </a:extLst>
          </p:cNvPr>
          <p:cNvSpPr txBox="1"/>
          <p:nvPr/>
        </p:nvSpPr>
        <p:spPr>
          <a:xfrm>
            <a:off x="2191512" y="7099300"/>
            <a:ext cx="6197600" cy="584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5449"/>
              </a:lnSpc>
            </a:pPr>
            <a:r>
              <a:rPr lang="ko-KR" altLang="en-US" sz="2400" b="0" i="0" u="none" strike="noStrike" dirty="0">
                <a:solidFill>
                  <a:srgbClr val="32323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저장 및 불러오기 시스템</a:t>
            </a:r>
            <a:endParaRPr lang="en-US" sz="2400" b="0" i="0" u="none" strike="noStrike" dirty="0">
              <a:solidFill>
                <a:srgbClr val="323232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50" name="Picture 27">
            <a:extLst>
              <a:ext uri="{FF2B5EF4-FFF2-40B4-BE49-F238E27FC236}">
                <a16:creationId xmlns:a16="http://schemas.microsoft.com/office/drawing/2014/main" id="{3F033E2C-C052-FF09-7C47-64E95189F6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4312" y="6946900"/>
            <a:ext cx="7620000" cy="1473200"/>
          </a:xfrm>
          <a:prstGeom prst="rect">
            <a:avLst/>
          </a:prstGeom>
        </p:spPr>
      </p:pic>
      <p:grpSp>
        <p:nvGrpSpPr>
          <p:cNvPr id="51" name="그룹 50">
            <a:extLst>
              <a:ext uri="{FF2B5EF4-FFF2-40B4-BE49-F238E27FC236}">
                <a16:creationId xmlns:a16="http://schemas.microsoft.com/office/drawing/2014/main" id="{3B0FC544-308F-DD03-722F-4F2851370E21}"/>
              </a:ext>
            </a:extLst>
          </p:cNvPr>
          <p:cNvGrpSpPr/>
          <p:nvPr/>
        </p:nvGrpSpPr>
        <p:grpSpPr>
          <a:xfrm>
            <a:off x="9671812" y="7277100"/>
            <a:ext cx="381000" cy="381000"/>
            <a:chOff x="9728200" y="5816600"/>
            <a:chExt cx="381000" cy="381000"/>
          </a:xfrm>
        </p:grpSpPr>
        <p:pic>
          <p:nvPicPr>
            <p:cNvPr id="52" name="Picture 29">
              <a:extLst>
                <a:ext uri="{FF2B5EF4-FFF2-40B4-BE49-F238E27FC236}">
                  <a16:creationId xmlns:a16="http://schemas.microsoft.com/office/drawing/2014/main" id="{321EDCDF-8AC9-4199-10BA-BBADF945E34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728200" y="5816600"/>
              <a:ext cx="381000" cy="381000"/>
            </a:xfrm>
            <a:prstGeom prst="rect">
              <a:avLst/>
            </a:prstGeom>
          </p:spPr>
        </p:pic>
        <p:sp>
          <p:nvSpPr>
            <p:cNvPr id="53" name="TextBox 30">
              <a:extLst>
                <a:ext uri="{FF2B5EF4-FFF2-40B4-BE49-F238E27FC236}">
                  <a16:creationId xmlns:a16="http://schemas.microsoft.com/office/drawing/2014/main" id="{165330AB-BD48-E34D-C11A-1CCD0D2C6826}"/>
                </a:ext>
              </a:extLst>
            </p:cNvPr>
            <p:cNvSpPr txBox="1"/>
            <p:nvPr/>
          </p:nvSpPr>
          <p:spPr>
            <a:xfrm>
              <a:off x="9791700" y="5816600"/>
              <a:ext cx="254000" cy="3429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5449"/>
                </a:lnSpc>
              </a:pPr>
              <a:r>
                <a:rPr lang="en-US" sz="2000" dirty="0">
                  <a:solidFill>
                    <a:srgbClr val="FAFAFA"/>
                  </a:solidFill>
                  <a:latin typeface="Pretendard Bold"/>
                </a:rPr>
                <a:t>6</a:t>
              </a:r>
              <a:endParaRPr lang="en-US" sz="2000" b="0" i="0" u="none" strike="noStrike" dirty="0">
                <a:solidFill>
                  <a:srgbClr val="FAFAFA"/>
                </a:solidFill>
                <a:latin typeface="Pretendard Bold"/>
              </a:endParaRPr>
            </a:p>
          </p:txBody>
        </p:sp>
      </p:grpSp>
      <p:sp>
        <p:nvSpPr>
          <p:cNvPr id="54" name="TextBox 31">
            <a:extLst>
              <a:ext uri="{FF2B5EF4-FFF2-40B4-BE49-F238E27FC236}">
                <a16:creationId xmlns:a16="http://schemas.microsoft.com/office/drawing/2014/main" id="{0D5CEF5D-4380-D826-5111-06BE9E0F30C7}"/>
              </a:ext>
            </a:extLst>
          </p:cNvPr>
          <p:cNvSpPr txBox="1"/>
          <p:nvPr/>
        </p:nvSpPr>
        <p:spPr>
          <a:xfrm>
            <a:off x="10281412" y="7099300"/>
            <a:ext cx="6197600" cy="584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5449"/>
              </a:lnSpc>
            </a:pPr>
            <a:r>
              <a:rPr lang="en-US" sz="2400" b="0" i="0" u="none" strike="noStrike" dirty="0">
                <a:solidFill>
                  <a:srgbClr val="32323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UI </a:t>
            </a:r>
            <a:r>
              <a:rPr lang="ko-KR" altLang="en-US" sz="2400" b="0" i="0" u="none" strike="noStrike" dirty="0">
                <a:solidFill>
                  <a:srgbClr val="32323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및 </a:t>
            </a:r>
            <a:r>
              <a:rPr lang="en-US" altLang="ko-KR" sz="2400" b="0" i="0" u="none" strike="noStrike" dirty="0">
                <a:solidFill>
                  <a:srgbClr val="32323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UX </a:t>
            </a:r>
            <a:r>
              <a:rPr lang="ko-KR" altLang="en-US" sz="2400" b="0" i="0" u="none" strike="noStrike" dirty="0">
                <a:solidFill>
                  <a:srgbClr val="32323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디자인</a:t>
            </a:r>
            <a:endParaRPr lang="en-US" sz="2400" b="0" i="0" u="none" strike="noStrike" dirty="0">
              <a:solidFill>
                <a:srgbClr val="323232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55" name="TextBox 13">
            <a:extLst>
              <a:ext uri="{FF2B5EF4-FFF2-40B4-BE49-F238E27FC236}">
                <a16:creationId xmlns:a16="http://schemas.microsoft.com/office/drawing/2014/main" id="{210FE596-5E9B-7C25-34B3-97A98DADC917}"/>
              </a:ext>
            </a:extLst>
          </p:cNvPr>
          <p:cNvSpPr txBox="1"/>
          <p:nvPr/>
        </p:nvSpPr>
        <p:spPr>
          <a:xfrm>
            <a:off x="10471912" y="7632700"/>
            <a:ext cx="6197600" cy="584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285750" lvl="0" indent="-285750" algn="l">
              <a:lnSpc>
                <a:spcPct val="95449"/>
              </a:lnSpc>
              <a:buFont typeface="Arial" panose="020B0604020202020204" pitchFamily="34" charset="0"/>
              <a:buChar char="•"/>
            </a:pPr>
            <a:r>
              <a:rPr lang="ko-KR" altLang="en-US" b="0" i="0" u="none" strike="noStrike" dirty="0">
                <a:solidFill>
                  <a:srgbClr val="32323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영수증 및 조리된 음식 </a:t>
            </a:r>
            <a:r>
              <a:rPr lang="ko-KR" altLang="en-US" b="0" i="0" u="none" strike="noStrike" dirty="0" err="1">
                <a:solidFill>
                  <a:srgbClr val="32323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인터렉션</a:t>
            </a:r>
            <a:endParaRPr lang="en-US" altLang="ko-KR" b="0" i="0" u="none" strike="noStrike" dirty="0">
              <a:solidFill>
                <a:srgbClr val="32323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marL="285750" lvl="0" indent="-285750" algn="l">
              <a:lnSpc>
                <a:spcPct val="95449"/>
              </a:lnSpc>
              <a:buFont typeface="Arial" panose="020B0604020202020204" pitchFamily="34" charset="0"/>
              <a:buChar char="•"/>
            </a:pPr>
            <a:r>
              <a:rPr lang="ko-KR" altLang="en-US" b="0" i="0" u="none" strike="noStrike" dirty="0">
                <a:solidFill>
                  <a:srgbClr val="32323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마감 시 매출</a:t>
            </a:r>
            <a:r>
              <a:rPr lang="en-US" altLang="ko-KR" b="0" i="0" u="none" strike="noStrike" dirty="0">
                <a:solidFill>
                  <a:srgbClr val="32323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/</a:t>
            </a:r>
            <a:r>
              <a:rPr lang="ko-KR" altLang="en-US" b="0" i="0" u="none" strike="noStrike" dirty="0">
                <a:solidFill>
                  <a:srgbClr val="32323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손실</a:t>
            </a:r>
            <a:r>
              <a:rPr lang="en-US" altLang="ko-KR" b="0" i="0" u="none" strike="noStrike" dirty="0">
                <a:solidFill>
                  <a:srgbClr val="32323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/</a:t>
            </a:r>
            <a:r>
              <a:rPr lang="ko-KR" altLang="en-US" b="0" i="0" u="none" strike="noStrike" dirty="0">
                <a:solidFill>
                  <a:srgbClr val="32323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세금 등 통계 </a:t>
            </a:r>
            <a:r>
              <a:rPr lang="en-US" altLang="ko-KR" b="0" i="0" u="none" strike="noStrike" dirty="0">
                <a:solidFill>
                  <a:srgbClr val="32323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UI </a:t>
            </a:r>
            <a:r>
              <a:rPr lang="ko-KR" altLang="en-US" b="0" i="0" u="none" strike="noStrike" dirty="0">
                <a:solidFill>
                  <a:srgbClr val="32323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제공</a:t>
            </a:r>
            <a:endParaRPr lang="en-US" b="0" i="0" u="none" strike="noStrike" dirty="0">
              <a:solidFill>
                <a:srgbClr val="32323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56" name="TextBox 13">
            <a:extLst>
              <a:ext uri="{FF2B5EF4-FFF2-40B4-BE49-F238E27FC236}">
                <a16:creationId xmlns:a16="http://schemas.microsoft.com/office/drawing/2014/main" id="{419389BE-DBAB-2667-0808-2E5550117D6F}"/>
              </a:ext>
            </a:extLst>
          </p:cNvPr>
          <p:cNvSpPr txBox="1"/>
          <p:nvPr/>
        </p:nvSpPr>
        <p:spPr>
          <a:xfrm>
            <a:off x="2343912" y="7632700"/>
            <a:ext cx="6197600" cy="584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285750" lvl="0" indent="-285750" algn="l">
              <a:lnSpc>
                <a:spcPct val="95449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rgbClr val="32323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조리 중인 요리부터 담았던 재료</a:t>
            </a:r>
            <a:r>
              <a:rPr lang="en-US" altLang="ko-KR" dirty="0">
                <a:solidFill>
                  <a:srgbClr val="32323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dirty="0">
                <a:solidFill>
                  <a:srgbClr val="32323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영수증까지 전부 세이브 가능</a:t>
            </a:r>
            <a:endParaRPr lang="en-US" altLang="ko-KR" dirty="0">
              <a:solidFill>
                <a:srgbClr val="32323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marL="285750" lvl="0" indent="-285750" algn="l">
              <a:lnSpc>
                <a:spcPct val="95449"/>
              </a:lnSpc>
              <a:buFont typeface="Arial" panose="020B0604020202020204" pitchFamily="34" charset="0"/>
              <a:buChar char="•"/>
            </a:pPr>
            <a:r>
              <a:rPr lang="ko-KR" altLang="en-US" b="0" i="0" u="none" strike="noStrike" dirty="0">
                <a:solidFill>
                  <a:srgbClr val="32323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편의성과 게임성의 균형을 생각하여 수정 예정</a:t>
            </a:r>
            <a:endParaRPr lang="en-US" b="0" i="0" u="none" strike="noStrike" dirty="0">
              <a:solidFill>
                <a:srgbClr val="32323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57" name="TextBox 7">
            <a:extLst>
              <a:ext uri="{FF2B5EF4-FFF2-40B4-BE49-F238E27FC236}">
                <a16:creationId xmlns:a16="http://schemas.microsoft.com/office/drawing/2014/main" id="{1ABD9371-DDE3-B4D7-4E04-885ABF2E0CB5}"/>
              </a:ext>
            </a:extLst>
          </p:cNvPr>
          <p:cNvSpPr txBox="1"/>
          <p:nvPr/>
        </p:nvSpPr>
        <p:spPr>
          <a:xfrm>
            <a:off x="4229100" y="8933180"/>
            <a:ext cx="9829800" cy="520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altLang="en-US" sz="3000" b="0" i="0" u="none" strike="noStrike" dirty="0">
                <a:solidFill>
                  <a:srgbClr val="000000"/>
                </a:solidFill>
                <a:ea typeface="Pretendard SemiBold"/>
              </a:rPr>
              <a:t>지점 관리</a:t>
            </a:r>
            <a:r>
              <a:rPr lang="en-US" altLang="ko-KR" sz="3000" b="0" i="0" u="none" strike="noStrike" dirty="0">
                <a:solidFill>
                  <a:srgbClr val="000000"/>
                </a:solidFill>
                <a:ea typeface="Pretendard SemiBold"/>
              </a:rPr>
              <a:t>, </a:t>
            </a:r>
            <a:r>
              <a:rPr lang="ko-KR" altLang="en-US" sz="3000" b="0" i="0" u="none" strike="noStrike" dirty="0">
                <a:solidFill>
                  <a:srgbClr val="000000"/>
                </a:solidFill>
                <a:ea typeface="Pretendard SemiBold"/>
              </a:rPr>
              <a:t>특정 날짜 할인 이벤트</a:t>
            </a:r>
            <a:r>
              <a:rPr lang="en-US" altLang="ko-KR" sz="3000" b="0" i="0" u="none" strike="noStrike" dirty="0">
                <a:solidFill>
                  <a:srgbClr val="000000"/>
                </a:solidFill>
                <a:ea typeface="Pretendard SemiBold"/>
              </a:rPr>
              <a:t>, </a:t>
            </a:r>
            <a:r>
              <a:rPr lang="ko-KR" altLang="en-US" sz="3000" b="0" i="0" u="none" strike="noStrike" dirty="0">
                <a:solidFill>
                  <a:srgbClr val="000000"/>
                </a:solidFill>
                <a:ea typeface="Pretendard SemiBold"/>
              </a:rPr>
              <a:t>일일 퀘스트 등 향후 확장 계획</a:t>
            </a:r>
            <a:endParaRPr lang="en-US" sz="3000" b="0" i="0" u="none" strike="noStrike" dirty="0">
              <a:solidFill>
                <a:srgbClr val="000000"/>
              </a:solidFill>
              <a:latin typeface="Pretendard SemiBold"/>
            </a:endParaRPr>
          </a:p>
        </p:txBody>
      </p:sp>
      <p:sp>
        <p:nvSpPr>
          <p:cNvPr id="6" name="슬라이드 번호 개체 틀 3">
            <a:extLst>
              <a:ext uri="{FF2B5EF4-FFF2-40B4-BE49-F238E27FC236}">
                <a16:creationId xmlns:a16="http://schemas.microsoft.com/office/drawing/2014/main" id="{AE4FA398-CCC7-D9D5-E444-D22225F2E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925800" y="9728200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7258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1100" y="-1549400"/>
            <a:ext cx="13373100" cy="13373100"/>
          </a:xfrm>
          <a:prstGeom prst="rect">
            <a:avLst/>
          </a:prstGeom>
        </p:spPr>
      </p:pic>
      <p:grpSp>
        <p:nvGrpSpPr>
          <p:cNvPr id="8" name="Group 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10" name="Group 10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14" name="Group 1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16" name="Group 1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20" name="Group 20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22" name="Group 2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26" name="Group 2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28" name="Group 2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32" name="Group 3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64" name="그룹 63">
            <a:extLst>
              <a:ext uri="{FF2B5EF4-FFF2-40B4-BE49-F238E27FC236}">
                <a16:creationId xmlns:a16="http://schemas.microsoft.com/office/drawing/2014/main" id="{D2364DF6-4E53-A3C7-9721-2CE2A26DD324}"/>
              </a:ext>
            </a:extLst>
          </p:cNvPr>
          <p:cNvGrpSpPr/>
          <p:nvPr/>
        </p:nvGrpSpPr>
        <p:grpSpPr>
          <a:xfrm>
            <a:off x="1066800" y="952500"/>
            <a:ext cx="8977376" cy="2209800"/>
            <a:chOff x="2147824" y="3619500"/>
            <a:chExt cx="8977376" cy="2209800"/>
          </a:xfrm>
        </p:grpSpPr>
        <p:sp>
          <p:nvSpPr>
            <p:cNvPr id="58" name="사각형: 둥근 모서리 57">
              <a:extLst>
                <a:ext uri="{FF2B5EF4-FFF2-40B4-BE49-F238E27FC236}">
                  <a16:creationId xmlns:a16="http://schemas.microsoft.com/office/drawing/2014/main" id="{CA8D9C5B-8592-BC7A-8734-01113EE31B93}"/>
                </a:ext>
              </a:extLst>
            </p:cNvPr>
            <p:cNvSpPr/>
            <p:nvPr/>
          </p:nvSpPr>
          <p:spPr>
            <a:xfrm>
              <a:off x="2147824" y="3619500"/>
              <a:ext cx="8977376" cy="2209800"/>
            </a:xfrm>
            <a:prstGeom prst="roundRect">
              <a:avLst>
                <a:gd name="adj" fmla="val 6158"/>
              </a:avLst>
            </a:prstGeom>
            <a:ln w="571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59" name="그룹 58">
              <a:extLst>
                <a:ext uri="{FF2B5EF4-FFF2-40B4-BE49-F238E27FC236}">
                  <a16:creationId xmlns:a16="http://schemas.microsoft.com/office/drawing/2014/main" id="{6ABCEB26-9E8F-05F3-71B9-DAF840139F65}"/>
                </a:ext>
              </a:extLst>
            </p:cNvPr>
            <p:cNvGrpSpPr/>
            <p:nvPr/>
          </p:nvGrpSpPr>
          <p:grpSpPr>
            <a:xfrm>
              <a:off x="2530856" y="4025900"/>
              <a:ext cx="381000" cy="381000"/>
              <a:chOff x="1638300" y="4152900"/>
              <a:chExt cx="381000" cy="381000"/>
            </a:xfrm>
          </p:grpSpPr>
          <p:pic>
            <p:nvPicPr>
              <p:cNvPr id="60" name="Picture 11">
                <a:extLst>
                  <a:ext uri="{FF2B5EF4-FFF2-40B4-BE49-F238E27FC236}">
                    <a16:creationId xmlns:a16="http://schemas.microsoft.com/office/drawing/2014/main" id="{C3201587-9988-D436-AEA1-39611138101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38300" y="4152900"/>
                <a:ext cx="381000" cy="381000"/>
              </a:xfrm>
              <a:prstGeom prst="rect">
                <a:avLst/>
              </a:prstGeom>
            </p:spPr>
          </p:pic>
          <p:sp>
            <p:nvSpPr>
              <p:cNvPr id="61" name="TextBox 12">
                <a:extLst>
                  <a:ext uri="{FF2B5EF4-FFF2-40B4-BE49-F238E27FC236}">
                    <a16:creationId xmlns:a16="http://schemas.microsoft.com/office/drawing/2014/main" id="{E90B2C27-68FA-378F-824F-2C1B5202B773}"/>
                  </a:ext>
                </a:extLst>
              </p:cNvPr>
              <p:cNvSpPr txBox="1"/>
              <p:nvPr/>
            </p:nvSpPr>
            <p:spPr>
              <a:xfrm>
                <a:off x="1701800" y="4165600"/>
                <a:ext cx="254000" cy="34290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lvl="0" algn="ctr">
                  <a:lnSpc>
                    <a:spcPct val="95449"/>
                  </a:lnSpc>
                </a:pPr>
                <a:r>
                  <a:rPr lang="en-US" sz="2000" b="0" i="0" u="none" strike="noStrike" dirty="0">
                    <a:solidFill>
                      <a:srgbClr val="FAFAFA"/>
                    </a:solidFill>
                    <a:latin typeface="Pretendard Bold"/>
                  </a:rPr>
                  <a:t>1</a:t>
                </a:r>
              </a:p>
            </p:txBody>
          </p:sp>
        </p:grpSp>
        <p:sp>
          <p:nvSpPr>
            <p:cNvPr id="62" name="TextBox 13">
              <a:extLst>
                <a:ext uri="{FF2B5EF4-FFF2-40B4-BE49-F238E27FC236}">
                  <a16:creationId xmlns:a16="http://schemas.microsoft.com/office/drawing/2014/main" id="{25851712-0477-46E3-FC6B-46283E6C7B0C}"/>
                </a:ext>
              </a:extLst>
            </p:cNvPr>
            <p:cNvSpPr txBox="1"/>
            <p:nvPr/>
          </p:nvSpPr>
          <p:spPr>
            <a:xfrm>
              <a:off x="3140456" y="3924300"/>
              <a:ext cx="7451344" cy="584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l">
                <a:lnSpc>
                  <a:spcPct val="95449"/>
                </a:lnSpc>
              </a:pPr>
              <a:r>
                <a:rPr lang="ko-KR" altLang="en-US" sz="3600" b="0" i="0" u="none" strike="noStrike" dirty="0">
                  <a:solidFill>
                    <a:srgbClr val="323232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영수증 관리 시스템</a:t>
              </a:r>
              <a:endParaRPr lang="en-US" sz="3600" b="0" i="0" u="none" strike="noStrike" dirty="0">
                <a:solidFill>
                  <a:srgbClr val="32323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  <p:sp>
          <p:nvSpPr>
            <p:cNvPr id="63" name="TextBox 13">
              <a:extLst>
                <a:ext uri="{FF2B5EF4-FFF2-40B4-BE49-F238E27FC236}">
                  <a16:creationId xmlns:a16="http://schemas.microsoft.com/office/drawing/2014/main" id="{45E6C420-D2FC-0E75-F8C2-F866853E10FB}"/>
                </a:ext>
              </a:extLst>
            </p:cNvPr>
            <p:cNvSpPr txBox="1"/>
            <p:nvPr/>
          </p:nvSpPr>
          <p:spPr>
            <a:xfrm>
              <a:off x="3292856" y="4508500"/>
              <a:ext cx="7451344" cy="1168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285750" lvl="0" indent="-285750" algn="l">
                <a:lnSpc>
                  <a:spcPct val="95449"/>
                </a:lnSpc>
                <a:buFont typeface="Arial" panose="020B0604020202020204" pitchFamily="34" charset="0"/>
                <a:buChar char="•"/>
              </a:pPr>
              <a:r>
                <a:rPr lang="ko-KR" altLang="en-US" sz="2800" dirty="0">
                  <a:solidFill>
                    <a:srgbClr val="323232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메뉴와 재료 데이터베이스에 따라 랜덤 영수증 생성</a:t>
              </a:r>
              <a:endParaRPr lang="en-US" altLang="ko-KR" sz="2800" dirty="0">
                <a:solidFill>
                  <a:srgbClr val="32323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marL="285750" lvl="0" indent="-285750" algn="l">
                <a:lnSpc>
                  <a:spcPct val="95449"/>
                </a:lnSpc>
                <a:buFont typeface="Arial" panose="020B0604020202020204" pitchFamily="34" charset="0"/>
                <a:buChar char="•"/>
              </a:pPr>
              <a:r>
                <a:rPr lang="ko-KR" altLang="en-US" sz="2800" b="0" i="0" u="none" strike="noStrike" dirty="0">
                  <a:solidFill>
                    <a:srgbClr val="323232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영수증은 슬롯으로 관리</a:t>
              </a:r>
              <a:r>
                <a:rPr lang="en-US" altLang="ko-KR" sz="2800" b="0" i="0" u="none" strike="noStrike" dirty="0">
                  <a:solidFill>
                    <a:srgbClr val="323232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 </a:t>
              </a:r>
              <a:r>
                <a:rPr lang="ko-KR" altLang="en-US" sz="2800" b="0" i="0" u="none" strike="noStrike" dirty="0">
                  <a:solidFill>
                    <a:srgbClr val="323232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드래그 </a:t>
              </a:r>
              <a:r>
                <a:rPr lang="en-US" altLang="ko-KR" sz="2800" dirty="0">
                  <a:solidFill>
                    <a:srgbClr val="323232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&amp; </a:t>
              </a:r>
              <a:r>
                <a:rPr lang="ko-KR" altLang="en-US" sz="2800" dirty="0">
                  <a:solidFill>
                    <a:srgbClr val="323232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드롭 기반 </a:t>
              </a:r>
              <a:r>
                <a:rPr lang="en-US" altLang="ko-KR" sz="2800" dirty="0">
                  <a:solidFill>
                    <a:srgbClr val="323232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UI</a:t>
              </a:r>
              <a:endParaRPr lang="en-US" sz="2800" b="0" i="0" u="none" strike="noStrike" dirty="0">
                <a:solidFill>
                  <a:srgbClr val="32323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</p:grpSp>
      <p:pic>
        <p:nvPicPr>
          <p:cNvPr id="13" name="그림 12" descr="텍스트, 스크린샷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DAF2CAE-A324-04CA-B8BC-C72C4EA6243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3551" y="3787004"/>
            <a:ext cx="9320898" cy="5247666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77836C8-A1A6-CF6F-396C-C95D55111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925800" y="9728200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0846A3-462C-6002-8FBE-5A6081E7F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79218D0D-E4BB-EB20-F469-376F9B49D4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1100" y="-1549400"/>
            <a:ext cx="13373100" cy="13373100"/>
          </a:xfrm>
          <a:prstGeom prst="rect">
            <a:avLst/>
          </a:prstGeom>
        </p:spPr>
      </p:pic>
      <p:grpSp>
        <p:nvGrpSpPr>
          <p:cNvPr id="8" name="Group 8">
            <a:extLst>
              <a:ext uri="{FF2B5EF4-FFF2-40B4-BE49-F238E27FC236}">
                <a16:creationId xmlns:a16="http://schemas.microsoft.com/office/drawing/2014/main" id="{3C6DC98F-E724-E97B-F12D-7E1FE6C2B1DC}"/>
              </a:ext>
            </a:extLst>
          </p:cNvPr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4D9F0B44-5E99-F63A-C006-F5D75CB61CB7}"/>
              </a:ext>
            </a:extLst>
          </p:cNvPr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F006A2DD-79AB-DAD3-37D5-8D5FE07D42D5}"/>
              </a:ext>
            </a:extLst>
          </p:cNvPr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820889B9-C83B-27F2-77BE-6F1C8CFDE480}"/>
              </a:ext>
            </a:extLst>
          </p:cNvPr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38BADBB2-3796-D050-7569-5F8881309BC7}"/>
              </a:ext>
            </a:extLst>
          </p:cNvPr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8888F8A6-A9D7-39B9-124B-90028B94356D}"/>
              </a:ext>
            </a:extLst>
          </p:cNvPr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7439036B-8CE0-1FA5-DF6E-CD5D5992DD7C}"/>
              </a:ext>
            </a:extLst>
          </p:cNvPr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AFD92201-5359-D838-C21C-1EC5CF5FD383}"/>
              </a:ext>
            </a:extLst>
          </p:cNvPr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32" name="Group 32">
            <a:extLst>
              <a:ext uri="{FF2B5EF4-FFF2-40B4-BE49-F238E27FC236}">
                <a16:creationId xmlns:a16="http://schemas.microsoft.com/office/drawing/2014/main" id="{A2AEE780-9320-845F-C998-0EB666AC64F4}"/>
              </a:ext>
            </a:extLst>
          </p:cNvPr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3A9FEAAB-D1E9-5287-4DB8-697602A1A90B}"/>
              </a:ext>
            </a:extLst>
          </p:cNvPr>
          <p:cNvGrpSpPr/>
          <p:nvPr/>
        </p:nvGrpSpPr>
        <p:grpSpPr>
          <a:xfrm>
            <a:off x="1066800" y="952500"/>
            <a:ext cx="10515600" cy="2209800"/>
            <a:chOff x="2147824" y="3619500"/>
            <a:chExt cx="10515600" cy="2209800"/>
          </a:xfrm>
        </p:grpSpPr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A4ABE2F4-52FA-B0E3-32FC-C501A3779AAC}"/>
                </a:ext>
              </a:extLst>
            </p:cNvPr>
            <p:cNvSpPr/>
            <p:nvPr/>
          </p:nvSpPr>
          <p:spPr>
            <a:xfrm>
              <a:off x="2147824" y="3619500"/>
              <a:ext cx="10515600" cy="2209800"/>
            </a:xfrm>
            <a:prstGeom prst="roundRect">
              <a:avLst>
                <a:gd name="adj" fmla="val 6158"/>
              </a:avLst>
            </a:prstGeom>
            <a:ln w="571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D1EED357-E140-4C05-6F32-999784B85E11}"/>
                </a:ext>
              </a:extLst>
            </p:cNvPr>
            <p:cNvGrpSpPr/>
            <p:nvPr/>
          </p:nvGrpSpPr>
          <p:grpSpPr>
            <a:xfrm>
              <a:off x="2530856" y="4025900"/>
              <a:ext cx="381000" cy="381000"/>
              <a:chOff x="1638300" y="4152900"/>
              <a:chExt cx="381000" cy="381000"/>
            </a:xfrm>
          </p:grpSpPr>
          <p:pic>
            <p:nvPicPr>
              <p:cNvPr id="21" name="Picture 11">
                <a:extLst>
                  <a:ext uri="{FF2B5EF4-FFF2-40B4-BE49-F238E27FC236}">
                    <a16:creationId xmlns:a16="http://schemas.microsoft.com/office/drawing/2014/main" id="{F0757EE8-DFAC-5E70-A40F-DAA921DFE9D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38300" y="4152900"/>
                <a:ext cx="381000" cy="381000"/>
              </a:xfrm>
              <a:prstGeom prst="rect">
                <a:avLst/>
              </a:prstGeom>
            </p:spPr>
          </p:pic>
          <p:sp>
            <p:nvSpPr>
              <p:cNvPr id="23" name="TextBox 12">
                <a:extLst>
                  <a:ext uri="{FF2B5EF4-FFF2-40B4-BE49-F238E27FC236}">
                    <a16:creationId xmlns:a16="http://schemas.microsoft.com/office/drawing/2014/main" id="{8B544EE4-FBDD-9948-6DD7-CE5BC01B4B31}"/>
                  </a:ext>
                </a:extLst>
              </p:cNvPr>
              <p:cNvSpPr txBox="1"/>
              <p:nvPr/>
            </p:nvSpPr>
            <p:spPr>
              <a:xfrm>
                <a:off x="1701800" y="4165600"/>
                <a:ext cx="254000" cy="34290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lvl="0" algn="ctr">
                  <a:lnSpc>
                    <a:spcPct val="95449"/>
                  </a:lnSpc>
                </a:pPr>
                <a:r>
                  <a:rPr lang="en-US" sz="2000" dirty="0">
                    <a:solidFill>
                      <a:srgbClr val="FAFAFA"/>
                    </a:solidFill>
                    <a:latin typeface="Pretendard Bold"/>
                  </a:rPr>
                  <a:t>2</a:t>
                </a:r>
                <a:endParaRPr lang="en-US" sz="2000" b="0" i="0" u="none" strike="noStrike" dirty="0">
                  <a:solidFill>
                    <a:srgbClr val="FAFAFA"/>
                  </a:solidFill>
                  <a:latin typeface="Pretendard Bold"/>
                </a:endParaRPr>
              </a:p>
            </p:txBody>
          </p:sp>
        </p:grpSp>
        <p:sp>
          <p:nvSpPr>
            <p:cNvPr id="18" name="TextBox 13">
              <a:extLst>
                <a:ext uri="{FF2B5EF4-FFF2-40B4-BE49-F238E27FC236}">
                  <a16:creationId xmlns:a16="http://schemas.microsoft.com/office/drawing/2014/main" id="{55458EB6-9EFD-8041-AD3D-67C9796C3B2D}"/>
                </a:ext>
              </a:extLst>
            </p:cNvPr>
            <p:cNvSpPr txBox="1"/>
            <p:nvPr/>
          </p:nvSpPr>
          <p:spPr>
            <a:xfrm>
              <a:off x="3140456" y="3924300"/>
              <a:ext cx="7451344" cy="584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>
                <a:lnSpc>
                  <a:spcPct val="95449"/>
                </a:lnSpc>
              </a:pPr>
              <a:r>
                <a:rPr lang="ko-KR" altLang="en-US" sz="3600" dirty="0">
                  <a:solidFill>
                    <a:srgbClr val="323232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재고 관리 시스템</a:t>
              </a:r>
              <a:endParaRPr lang="en-US" altLang="ko-KR" sz="3600" dirty="0">
                <a:solidFill>
                  <a:srgbClr val="32323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  <p:sp>
          <p:nvSpPr>
            <p:cNvPr id="19" name="TextBox 13">
              <a:extLst>
                <a:ext uri="{FF2B5EF4-FFF2-40B4-BE49-F238E27FC236}">
                  <a16:creationId xmlns:a16="http://schemas.microsoft.com/office/drawing/2014/main" id="{7A2EDE63-2D26-6B1D-395B-9800FDDE35F3}"/>
                </a:ext>
              </a:extLst>
            </p:cNvPr>
            <p:cNvSpPr txBox="1"/>
            <p:nvPr/>
          </p:nvSpPr>
          <p:spPr>
            <a:xfrm>
              <a:off x="3292856" y="4508500"/>
              <a:ext cx="9141968" cy="1168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285750" lvl="0" indent="-285750">
                <a:lnSpc>
                  <a:spcPct val="95449"/>
                </a:lnSpc>
                <a:buFont typeface="Arial" panose="020B0604020202020204" pitchFamily="34" charset="0"/>
                <a:buChar char="•"/>
              </a:pPr>
              <a:r>
                <a:rPr lang="ko-KR" altLang="en-US" sz="2800">
                  <a:solidFill>
                    <a:srgbClr val="323232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떡볶이를 조리할 때마다 재고 차감</a:t>
              </a:r>
              <a:endParaRPr lang="en-US" altLang="ko-KR" sz="2800">
                <a:solidFill>
                  <a:srgbClr val="32323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marL="285750" lvl="0" indent="-285750">
                <a:lnSpc>
                  <a:spcPct val="95449"/>
                </a:lnSpc>
                <a:buFont typeface="Arial" panose="020B0604020202020204" pitchFamily="34" charset="0"/>
                <a:buChar char="•"/>
              </a:pPr>
              <a:r>
                <a:rPr lang="ko-KR" altLang="en-US" sz="2800">
                  <a:solidFill>
                    <a:srgbClr val="323232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재료마다 정해진 단가 있음</a:t>
              </a:r>
              <a:r>
                <a:rPr lang="en-US" altLang="ko-KR" sz="2800">
                  <a:solidFill>
                    <a:srgbClr val="323232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 </a:t>
              </a:r>
              <a:r>
                <a:rPr lang="ko-KR" altLang="en-US" sz="2800">
                  <a:solidFill>
                    <a:srgbClr val="323232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플레이어가 자유롭게 재고 주문 가능</a:t>
              </a:r>
              <a:endParaRPr lang="en-US" altLang="ko-KR" sz="2800" dirty="0">
                <a:solidFill>
                  <a:srgbClr val="32323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</p:grpSp>
      <p:pic>
        <p:nvPicPr>
          <p:cNvPr id="12" name="그림 11" descr="텍스트, 스크린샷, 번호, 득점판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40D6A9A-CE17-2568-C7D4-5F92F21A2F3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714" b="34385"/>
          <a:stretch>
            <a:fillRect/>
          </a:stretch>
        </p:blipFill>
        <p:spPr>
          <a:xfrm>
            <a:off x="812408" y="3792728"/>
            <a:ext cx="6987061" cy="5236972"/>
          </a:xfrm>
          <a:prstGeom prst="rect">
            <a:avLst/>
          </a:prstGeom>
        </p:spPr>
      </p:pic>
      <p:pic>
        <p:nvPicPr>
          <p:cNvPr id="29" name="그림 28" descr="텍스트, 스크린샷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5262598-42B4-D4C0-0339-518EEF796FF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3400" y="3795827"/>
            <a:ext cx="9296400" cy="5233873"/>
          </a:xfrm>
          <a:prstGeom prst="rect">
            <a:avLst/>
          </a:prstGeom>
        </p:spPr>
      </p:pic>
      <p:sp>
        <p:nvSpPr>
          <p:cNvPr id="31" name="직사각형 30">
            <a:extLst>
              <a:ext uri="{FF2B5EF4-FFF2-40B4-BE49-F238E27FC236}">
                <a16:creationId xmlns:a16="http://schemas.microsoft.com/office/drawing/2014/main" id="{37CF1329-582A-4C1D-0DF2-A8EBFC79D405}"/>
              </a:ext>
            </a:extLst>
          </p:cNvPr>
          <p:cNvSpPr/>
          <p:nvPr/>
        </p:nvSpPr>
        <p:spPr>
          <a:xfrm>
            <a:off x="1066800" y="4991100"/>
            <a:ext cx="4800600" cy="30480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118BC28-5DAD-D65C-4274-581AFBED6356}"/>
              </a:ext>
            </a:extLst>
          </p:cNvPr>
          <p:cNvSpPr txBox="1">
            <a:spLocks/>
          </p:cNvSpPr>
          <p:nvPr/>
        </p:nvSpPr>
        <p:spPr>
          <a:xfrm>
            <a:off x="15925800" y="972820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0315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316ED7-4B4B-DF81-9F4F-E8EB88CC1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BF5700D4-767A-20F8-63C1-ADA6395A21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1100" y="-1549400"/>
            <a:ext cx="13373100" cy="13373100"/>
          </a:xfrm>
          <a:prstGeom prst="rect">
            <a:avLst/>
          </a:prstGeom>
        </p:spPr>
      </p:pic>
      <p:grpSp>
        <p:nvGrpSpPr>
          <p:cNvPr id="8" name="Group 8">
            <a:extLst>
              <a:ext uri="{FF2B5EF4-FFF2-40B4-BE49-F238E27FC236}">
                <a16:creationId xmlns:a16="http://schemas.microsoft.com/office/drawing/2014/main" id="{2A0D9158-14C0-3262-E57E-B37396FC4685}"/>
              </a:ext>
            </a:extLst>
          </p:cNvPr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DD27723A-4D07-8CFC-5D58-A3AD4E7A69D7}"/>
              </a:ext>
            </a:extLst>
          </p:cNvPr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1C85CDD7-03B9-0D5C-6A27-4716ABF21D34}"/>
              </a:ext>
            </a:extLst>
          </p:cNvPr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B41D3C4A-A5F6-A2C2-02C7-56EE1F229FAB}"/>
              </a:ext>
            </a:extLst>
          </p:cNvPr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41BF5CF9-CCCE-E709-D2E6-4A2C70158CB6}"/>
              </a:ext>
            </a:extLst>
          </p:cNvPr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49DFD9FB-E01B-713D-DD12-C7ACE36A405B}"/>
              </a:ext>
            </a:extLst>
          </p:cNvPr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0186DAB7-7F2F-DD88-DD7B-9AB4C6A9E41A}"/>
              </a:ext>
            </a:extLst>
          </p:cNvPr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0FCAB856-3965-5CC2-FF83-51F837FEC865}"/>
              </a:ext>
            </a:extLst>
          </p:cNvPr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32" name="Group 32">
            <a:extLst>
              <a:ext uri="{FF2B5EF4-FFF2-40B4-BE49-F238E27FC236}">
                <a16:creationId xmlns:a16="http://schemas.microsoft.com/office/drawing/2014/main" id="{333D8DCC-F6FD-DA66-1AB0-65D759D3F1BD}"/>
              </a:ext>
            </a:extLst>
          </p:cNvPr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EAE4899D-647B-9EA2-C21D-82EDA5C9003F}"/>
              </a:ext>
            </a:extLst>
          </p:cNvPr>
          <p:cNvGrpSpPr/>
          <p:nvPr/>
        </p:nvGrpSpPr>
        <p:grpSpPr>
          <a:xfrm>
            <a:off x="1066800" y="952500"/>
            <a:ext cx="8915400" cy="2209800"/>
            <a:chOff x="2147824" y="3619500"/>
            <a:chExt cx="8915400" cy="2209800"/>
          </a:xfrm>
        </p:grpSpPr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305EEC85-821C-40D9-E54B-AF369EF0A71E}"/>
                </a:ext>
              </a:extLst>
            </p:cNvPr>
            <p:cNvSpPr/>
            <p:nvPr/>
          </p:nvSpPr>
          <p:spPr>
            <a:xfrm>
              <a:off x="2147824" y="3619500"/>
              <a:ext cx="8915400" cy="2209800"/>
            </a:xfrm>
            <a:prstGeom prst="roundRect">
              <a:avLst>
                <a:gd name="adj" fmla="val 6158"/>
              </a:avLst>
            </a:prstGeom>
            <a:ln w="571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44CB825A-01C6-26A0-0E67-EB5C8B9BEE64}"/>
                </a:ext>
              </a:extLst>
            </p:cNvPr>
            <p:cNvGrpSpPr/>
            <p:nvPr/>
          </p:nvGrpSpPr>
          <p:grpSpPr>
            <a:xfrm>
              <a:off x="2530856" y="4025900"/>
              <a:ext cx="381000" cy="381000"/>
              <a:chOff x="1638300" y="4152900"/>
              <a:chExt cx="381000" cy="381000"/>
            </a:xfrm>
          </p:grpSpPr>
          <p:pic>
            <p:nvPicPr>
              <p:cNvPr id="21" name="Picture 11">
                <a:extLst>
                  <a:ext uri="{FF2B5EF4-FFF2-40B4-BE49-F238E27FC236}">
                    <a16:creationId xmlns:a16="http://schemas.microsoft.com/office/drawing/2014/main" id="{2B365217-9860-AED3-2598-8B9BB6D3199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38300" y="4152900"/>
                <a:ext cx="381000" cy="381000"/>
              </a:xfrm>
              <a:prstGeom prst="rect">
                <a:avLst/>
              </a:prstGeom>
            </p:spPr>
          </p:pic>
          <p:sp>
            <p:nvSpPr>
              <p:cNvPr id="23" name="TextBox 12">
                <a:extLst>
                  <a:ext uri="{FF2B5EF4-FFF2-40B4-BE49-F238E27FC236}">
                    <a16:creationId xmlns:a16="http://schemas.microsoft.com/office/drawing/2014/main" id="{039118ED-00B0-D96C-D2FB-3B591CE0327C}"/>
                  </a:ext>
                </a:extLst>
              </p:cNvPr>
              <p:cNvSpPr txBox="1"/>
              <p:nvPr/>
            </p:nvSpPr>
            <p:spPr>
              <a:xfrm>
                <a:off x="1701800" y="4165600"/>
                <a:ext cx="254000" cy="34290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lvl="0" algn="ctr">
                  <a:lnSpc>
                    <a:spcPct val="95449"/>
                  </a:lnSpc>
                </a:pPr>
                <a:r>
                  <a:rPr lang="en-US" sz="2000" b="0" i="0" u="none" strike="noStrike" dirty="0">
                    <a:solidFill>
                      <a:srgbClr val="FAFAFA"/>
                    </a:solidFill>
                    <a:latin typeface="Pretendard Bold"/>
                  </a:rPr>
                  <a:t>3</a:t>
                </a:r>
              </a:p>
            </p:txBody>
          </p:sp>
        </p:grpSp>
        <p:sp>
          <p:nvSpPr>
            <p:cNvPr id="18" name="TextBox 13">
              <a:extLst>
                <a:ext uri="{FF2B5EF4-FFF2-40B4-BE49-F238E27FC236}">
                  <a16:creationId xmlns:a16="http://schemas.microsoft.com/office/drawing/2014/main" id="{E2DBBF13-B515-CC23-6DE5-E3482CDFD3BA}"/>
                </a:ext>
              </a:extLst>
            </p:cNvPr>
            <p:cNvSpPr txBox="1"/>
            <p:nvPr/>
          </p:nvSpPr>
          <p:spPr>
            <a:xfrm>
              <a:off x="3140456" y="3924300"/>
              <a:ext cx="7451344" cy="584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>
                <a:lnSpc>
                  <a:spcPct val="95449"/>
                </a:lnSpc>
              </a:pPr>
              <a:r>
                <a:rPr lang="ko-KR" altLang="en-US" sz="3600" dirty="0">
                  <a:solidFill>
                    <a:srgbClr val="323232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조리 및 포장 시스템</a:t>
              </a:r>
              <a:endParaRPr lang="en-US" altLang="ko-KR" sz="3600" dirty="0">
                <a:solidFill>
                  <a:srgbClr val="32323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  <p:sp>
          <p:nvSpPr>
            <p:cNvPr id="19" name="TextBox 13">
              <a:extLst>
                <a:ext uri="{FF2B5EF4-FFF2-40B4-BE49-F238E27FC236}">
                  <a16:creationId xmlns:a16="http://schemas.microsoft.com/office/drawing/2014/main" id="{C4DCEB7F-4C97-9A29-5D79-FDA788ED0115}"/>
                </a:ext>
              </a:extLst>
            </p:cNvPr>
            <p:cNvSpPr txBox="1"/>
            <p:nvPr/>
          </p:nvSpPr>
          <p:spPr>
            <a:xfrm>
              <a:off x="3292856" y="4508500"/>
              <a:ext cx="7527544" cy="1168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285750" lvl="0" indent="-285750">
                <a:lnSpc>
                  <a:spcPct val="95449"/>
                </a:lnSpc>
                <a:buFont typeface="Arial" panose="020B0604020202020204" pitchFamily="34" charset="0"/>
                <a:buChar char="•"/>
              </a:pPr>
              <a:r>
                <a:rPr lang="ko-KR" altLang="en-US" sz="2800">
                  <a:solidFill>
                    <a:srgbClr val="323232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조리된 음식이 어떤 재료로 이루어졌는지 </a:t>
              </a:r>
              <a:r>
                <a:rPr lang="en-US" altLang="ko-KR" sz="2800">
                  <a:solidFill>
                    <a:srgbClr val="323232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UI</a:t>
              </a:r>
              <a:r>
                <a:rPr lang="ko-KR" altLang="en-US" sz="2800">
                  <a:solidFill>
                    <a:srgbClr val="323232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로 표시</a:t>
              </a:r>
              <a:endParaRPr lang="en-US" altLang="ko-KR" sz="2800">
                <a:solidFill>
                  <a:srgbClr val="32323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marL="285750" lvl="0" indent="-285750">
                <a:lnSpc>
                  <a:spcPct val="95449"/>
                </a:lnSpc>
                <a:buFont typeface="Arial" panose="020B0604020202020204" pitchFamily="34" charset="0"/>
                <a:buChar char="•"/>
              </a:pPr>
              <a:r>
                <a:rPr lang="ko-KR" altLang="en-US" sz="2800">
                  <a:solidFill>
                    <a:srgbClr val="323232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포장대 슬롯으로 관리</a:t>
              </a:r>
              <a:r>
                <a:rPr lang="en-US" altLang="ko-KR" sz="2800">
                  <a:solidFill>
                    <a:srgbClr val="323232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 </a:t>
              </a:r>
              <a:r>
                <a:rPr lang="ko-KR" altLang="en-US" sz="2800">
                  <a:solidFill>
                    <a:srgbClr val="323232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슬롯 별 스택형 구조를 띔</a:t>
              </a:r>
              <a:endParaRPr lang="en-US" altLang="ko-KR" sz="2800" dirty="0">
                <a:solidFill>
                  <a:srgbClr val="32323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</p:grpSp>
      <p:pic>
        <p:nvPicPr>
          <p:cNvPr id="6" name="그림 5" descr="텍스트, 스크린샷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803D5F1-A8FA-4DB0-10BB-F9241ABE68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517" t="16016" r="1"/>
          <a:stretch>
            <a:fillRect/>
          </a:stretch>
        </p:blipFill>
        <p:spPr>
          <a:xfrm>
            <a:off x="5096970" y="3399480"/>
            <a:ext cx="8094060" cy="5935020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DEB52CD-2CDC-F378-76B9-D73B02BC4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925800" y="9728200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2881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50D311-ED0A-C40B-6754-F45ADB0C25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FFEFE184-AB4B-64DA-B3EF-CF9AA8CEB9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1100" y="-1549400"/>
            <a:ext cx="13373100" cy="13373100"/>
          </a:xfrm>
          <a:prstGeom prst="rect">
            <a:avLst/>
          </a:prstGeom>
        </p:spPr>
      </p:pic>
      <p:grpSp>
        <p:nvGrpSpPr>
          <p:cNvPr id="8" name="Group 8">
            <a:extLst>
              <a:ext uri="{FF2B5EF4-FFF2-40B4-BE49-F238E27FC236}">
                <a16:creationId xmlns:a16="http://schemas.microsoft.com/office/drawing/2014/main" id="{5CE13E30-0F53-2B4C-FA0F-007EF49AFAA2}"/>
              </a:ext>
            </a:extLst>
          </p:cNvPr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A4F323F5-BCFC-38EE-9FF1-9D31AE2C474E}"/>
              </a:ext>
            </a:extLst>
          </p:cNvPr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E68AC7FC-99CD-B1FE-6C74-3CC9425CE39E}"/>
              </a:ext>
            </a:extLst>
          </p:cNvPr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36D3459D-6B9B-0A9E-2C8A-F6C024100DF1}"/>
              </a:ext>
            </a:extLst>
          </p:cNvPr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521D7304-BF3C-2DE3-967D-4641157B6A1E}"/>
              </a:ext>
            </a:extLst>
          </p:cNvPr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78EC8E04-3BCC-FBB4-443F-ED960E669802}"/>
              </a:ext>
            </a:extLst>
          </p:cNvPr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48E78FA4-D8AC-31C0-7F88-03352ED90AF4}"/>
              </a:ext>
            </a:extLst>
          </p:cNvPr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919734BC-76D6-947C-F866-5D7DE74BD1D4}"/>
              </a:ext>
            </a:extLst>
          </p:cNvPr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32" name="Group 32">
            <a:extLst>
              <a:ext uri="{FF2B5EF4-FFF2-40B4-BE49-F238E27FC236}">
                <a16:creationId xmlns:a16="http://schemas.microsoft.com/office/drawing/2014/main" id="{603E5755-DDDA-6181-B0C0-BF7CC521128E}"/>
              </a:ext>
            </a:extLst>
          </p:cNvPr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64" name="그룹 63">
            <a:extLst>
              <a:ext uri="{FF2B5EF4-FFF2-40B4-BE49-F238E27FC236}">
                <a16:creationId xmlns:a16="http://schemas.microsoft.com/office/drawing/2014/main" id="{B38CE39A-1607-E25F-3FFA-6F0169709FB0}"/>
              </a:ext>
            </a:extLst>
          </p:cNvPr>
          <p:cNvGrpSpPr/>
          <p:nvPr/>
        </p:nvGrpSpPr>
        <p:grpSpPr>
          <a:xfrm>
            <a:off x="1066800" y="952500"/>
            <a:ext cx="8443976" cy="2209800"/>
            <a:chOff x="2147824" y="3619500"/>
            <a:chExt cx="8443976" cy="2209800"/>
          </a:xfrm>
        </p:grpSpPr>
        <p:sp>
          <p:nvSpPr>
            <p:cNvPr id="58" name="사각형: 둥근 모서리 57">
              <a:extLst>
                <a:ext uri="{FF2B5EF4-FFF2-40B4-BE49-F238E27FC236}">
                  <a16:creationId xmlns:a16="http://schemas.microsoft.com/office/drawing/2014/main" id="{A3BA09B4-8554-72B7-5038-9637AAA7A5BF}"/>
                </a:ext>
              </a:extLst>
            </p:cNvPr>
            <p:cNvSpPr/>
            <p:nvPr/>
          </p:nvSpPr>
          <p:spPr>
            <a:xfrm>
              <a:off x="2147824" y="3619500"/>
              <a:ext cx="8443976" cy="2209800"/>
            </a:xfrm>
            <a:prstGeom prst="roundRect">
              <a:avLst>
                <a:gd name="adj" fmla="val 6158"/>
              </a:avLst>
            </a:prstGeom>
            <a:ln w="571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59" name="그룹 58">
              <a:extLst>
                <a:ext uri="{FF2B5EF4-FFF2-40B4-BE49-F238E27FC236}">
                  <a16:creationId xmlns:a16="http://schemas.microsoft.com/office/drawing/2014/main" id="{5E496151-B579-6105-7CAA-BC7D3681C264}"/>
                </a:ext>
              </a:extLst>
            </p:cNvPr>
            <p:cNvGrpSpPr/>
            <p:nvPr/>
          </p:nvGrpSpPr>
          <p:grpSpPr>
            <a:xfrm>
              <a:off x="2530856" y="4025900"/>
              <a:ext cx="381000" cy="381000"/>
              <a:chOff x="1638300" y="4152900"/>
              <a:chExt cx="381000" cy="381000"/>
            </a:xfrm>
          </p:grpSpPr>
          <p:pic>
            <p:nvPicPr>
              <p:cNvPr id="60" name="Picture 11">
                <a:extLst>
                  <a:ext uri="{FF2B5EF4-FFF2-40B4-BE49-F238E27FC236}">
                    <a16:creationId xmlns:a16="http://schemas.microsoft.com/office/drawing/2014/main" id="{551123D7-6D48-7D15-079C-46DF3241F92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38300" y="4152900"/>
                <a:ext cx="381000" cy="381000"/>
              </a:xfrm>
              <a:prstGeom prst="rect">
                <a:avLst/>
              </a:prstGeom>
            </p:spPr>
          </p:pic>
          <p:sp>
            <p:nvSpPr>
              <p:cNvPr id="61" name="TextBox 12">
                <a:extLst>
                  <a:ext uri="{FF2B5EF4-FFF2-40B4-BE49-F238E27FC236}">
                    <a16:creationId xmlns:a16="http://schemas.microsoft.com/office/drawing/2014/main" id="{CCDA94C4-C1F5-6705-6CEC-9E8A7422D19F}"/>
                  </a:ext>
                </a:extLst>
              </p:cNvPr>
              <p:cNvSpPr txBox="1"/>
              <p:nvPr/>
            </p:nvSpPr>
            <p:spPr>
              <a:xfrm>
                <a:off x="1701800" y="4165600"/>
                <a:ext cx="254000" cy="34290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lvl="0" algn="ctr">
                  <a:lnSpc>
                    <a:spcPct val="95449"/>
                  </a:lnSpc>
                </a:pPr>
                <a:r>
                  <a:rPr lang="en-US" sz="2000" dirty="0">
                    <a:solidFill>
                      <a:srgbClr val="FAFAFA"/>
                    </a:solidFill>
                    <a:latin typeface="Pretendard Bold"/>
                  </a:rPr>
                  <a:t>4</a:t>
                </a:r>
                <a:endParaRPr lang="en-US" sz="2000" b="0" i="0" u="none" strike="noStrike" dirty="0">
                  <a:solidFill>
                    <a:srgbClr val="FAFAFA"/>
                  </a:solidFill>
                  <a:latin typeface="Pretendard Bold"/>
                </a:endParaRPr>
              </a:p>
            </p:txBody>
          </p:sp>
        </p:grpSp>
        <p:sp>
          <p:nvSpPr>
            <p:cNvPr id="62" name="TextBox 13">
              <a:extLst>
                <a:ext uri="{FF2B5EF4-FFF2-40B4-BE49-F238E27FC236}">
                  <a16:creationId xmlns:a16="http://schemas.microsoft.com/office/drawing/2014/main" id="{170BAB95-AFA1-2F18-8AD7-D4C62855E2F0}"/>
                </a:ext>
              </a:extLst>
            </p:cNvPr>
            <p:cNvSpPr txBox="1"/>
            <p:nvPr/>
          </p:nvSpPr>
          <p:spPr>
            <a:xfrm>
              <a:off x="3140456" y="3924300"/>
              <a:ext cx="7451344" cy="584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>
                <a:lnSpc>
                  <a:spcPct val="95449"/>
                </a:lnSpc>
              </a:pPr>
              <a:r>
                <a:rPr lang="ko-KR" altLang="en-US" sz="3600" dirty="0">
                  <a:solidFill>
                    <a:srgbClr val="323232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경제 시스템</a:t>
              </a:r>
              <a:endParaRPr lang="en-US" altLang="ko-KR" sz="3600" dirty="0">
                <a:solidFill>
                  <a:srgbClr val="32323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  <p:sp>
          <p:nvSpPr>
            <p:cNvPr id="63" name="TextBox 13">
              <a:extLst>
                <a:ext uri="{FF2B5EF4-FFF2-40B4-BE49-F238E27FC236}">
                  <a16:creationId xmlns:a16="http://schemas.microsoft.com/office/drawing/2014/main" id="{F624A979-EFA4-3B1D-A328-EF68DCBC6C1E}"/>
                </a:ext>
              </a:extLst>
            </p:cNvPr>
            <p:cNvSpPr txBox="1"/>
            <p:nvPr/>
          </p:nvSpPr>
          <p:spPr>
            <a:xfrm>
              <a:off x="3292856" y="4508500"/>
              <a:ext cx="6932168" cy="1168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285750" lvl="0" indent="-285750">
                <a:lnSpc>
                  <a:spcPct val="95449"/>
                </a:lnSpc>
                <a:buFont typeface="Arial" panose="020B0604020202020204" pitchFamily="34" charset="0"/>
                <a:buChar char="•"/>
              </a:pPr>
              <a:r>
                <a:rPr lang="ko-KR" altLang="en-US" sz="2800" dirty="0">
                  <a:solidFill>
                    <a:srgbClr val="323232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재료 별 이윤이 조금씩 다름 </a:t>
              </a:r>
              <a:r>
                <a:rPr lang="en-US" altLang="ko-KR" sz="2800" dirty="0">
                  <a:solidFill>
                    <a:srgbClr val="323232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-&gt; </a:t>
              </a:r>
              <a:r>
                <a:rPr lang="ko-KR" altLang="en-US" sz="2800" dirty="0">
                  <a:solidFill>
                    <a:srgbClr val="323232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약간의 전략 요소</a:t>
              </a:r>
              <a:endParaRPr lang="en-US" altLang="ko-KR" sz="2800" dirty="0">
                <a:solidFill>
                  <a:srgbClr val="32323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marL="285750" lvl="0" indent="-285750">
                <a:lnSpc>
                  <a:spcPct val="95449"/>
                </a:lnSpc>
                <a:buFont typeface="Arial" panose="020B0604020202020204" pitchFamily="34" charset="0"/>
                <a:buChar char="•"/>
              </a:pPr>
              <a:r>
                <a:rPr lang="ko-KR" altLang="en-US" sz="2800" dirty="0">
                  <a:solidFill>
                    <a:srgbClr val="323232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성공한 주문의 일정 비율만큼 자동으로 납세</a:t>
              </a:r>
              <a:endParaRPr lang="en-US" altLang="ko-KR" sz="2800" dirty="0">
                <a:solidFill>
                  <a:srgbClr val="32323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</p:grpSp>
      <p:pic>
        <p:nvPicPr>
          <p:cNvPr id="4" name="그림 3">
            <a:extLst>
              <a:ext uri="{FF2B5EF4-FFF2-40B4-BE49-F238E27FC236}">
                <a16:creationId xmlns:a16="http://schemas.microsoft.com/office/drawing/2014/main" id="{454C98C6-6B6D-0023-B547-E8843BE15B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6823" y="3734904"/>
            <a:ext cx="16014353" cy="5128368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3E221ACA-38DC-1DAE-7E58-3CCAF15B0E3C}"/>
              </a:ext>
            </a:extLst>
          </p:cNvPr>
          <p:cNvSpPr/>
          <p:nvPr/>
        </p:nvSpPr>
        <p:spPr>
          <a:xfrm>
            <a:off x="13411200" y="3543300"/>
            <a:ext cx="2057400" cy="531997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슬라이드 번호 개체 틀 3">
            <a:extLst>
              <a:ext uri="{FF2B5EF4-FFF2-40B4-BE49-F238E27FC236}">
                <a16:creationId xmlns:a16="http://schemas.microsoft.com/office/drawing/2014/main" id="{B19A2EA2-D46D-7BCB-0BDE-75CFDE260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925800" y="9728200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6462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207F7B-FBA8-0CC7-8946-169A600B8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A5AD24CB-BA6F-C145-8874-E3C161E459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1100" y="-1549400"/>
            <a:ext cx="13373100" cy="13373100"/>
          </a:xfrm>
          <a:prstGeom prst="rect">
            <a:avLst/>
          </a:prstGeom>
        </p:spPr>
      </p:pic>
      <p:grpSp>
        <p:nvGrpSpPr>
          <p:cNvPr id="8" name="Group 8">
            <a:extLst>
              <a:ext uri="{FF2B5EF4-FFF2-40B4-BE49-F238E27FC236}">
                <a16:creationId xmlns:a16="http://schemas.microsoft.com/office/drawing/2014/main" id="{7DC6312B-B866-0F70-0666-923CA0087913}"/>
              </a:ext>
            </a:extLst>
          </p:cNvPr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0D862B3A-A982-4428-606C-56F20ED4CEE4}"/>
              </a:ext>
            </a:extLst>
          </p:cNvPr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45DE7E69-393C-468F-09D3-EEFBD0604844}"/>
              </a:ext>
            </a:extLst>
          </p:cNvPr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8FB1D69E-71A6-3249-4A5E-02A88C0ED509}"/>
              </a:ext>
            </a:extLst>
          </p:cNvPr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463BFE34-456D-9710-E896-16F43F6353B4}"/>
              </a:ext>
            </a:extLst>
          </p:cNvPr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DC3C0634-EE28-A3F0-39C8-02619C568773}"/>
              </a:ext>
            </a:extLst>
          </p:cNvPr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27D70F56-FCB3-634D-2D1F-5EAF147DE0C4}"/>
              </a:ext>
            </a:extLst>
          </p:cNvPr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C0046065-310C-EC16-B563-9783DEDB64C9}"/>
              </a:ext>
            </a:extLst>
          </p:cNvPr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32" name="Group 32">
            <a:extLst>
              <a:ext uri="{FF2B5EF4-FFF2-40B4-BE49-F238E27FC236}">
                <a16:creationId xmlns:a16="http://schemas.microsoft.com/office/drawing/2014/main" id="{114321FD-73B8-F179-8A0F-2404C479D66E}"/>
              </a:ext>
            </a:extLst>
          </p:cNvPr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64" name="그룹 63">
            <a:extLst>
              <a:ext uri="{FF2B5EF4-FFF2-40B4-BE49-F238E27FC236}">
                <a16:creationId xmlns:a16="http://schemas.microsoft.com/office/drawing/2014/main" id="{A4112B7A-CD5B-6471-D35A-91F8ED1AE425}"/>
              </a:ext>
            </a:extLst>
          </p:cNvPr>
          <p:cNvGrpSpPr/>
          <p:nvPr/>
        </p:nvGrpSpPr>
        <p:grpSpPr>
          <a:xfrm>
            <a:off x="1066800" y="952500"/>
            <a:ext cx="10287000" cy="2209800"/>
            <a:chOff x="2147824" y="3619500"/>
            <a:chExt cx="10287000" cy="2209800"/>
          </a:xfrm>
        </p:grpSpPr>
        <p:sp>
          <p:nvSpPr>
            <p:cNvPr id="58" name="사각형: 둥근 모서리 57">
              <a:extLst>
                <a:ext uri="{FF2B5EF4-FFF2-40B4-BE49-F238E27FC236}">
                  <a16:creationId xmlns:a16="http://schemas.microsoft.com/office/drawing/2014/main" id="{23457511-A41B-E1C0-D6EC-6EDADB722AC3}"/>
                </a:ext>
              </a:extLst>
            </p:cNvPr>
            <p:cNvSpPr/>
            <p:nvPr/>
          </p:nvSpPr>
          <p:spPr>
            <a:xfrm>
              <a:off x="2147824" y="3619500"/>
              <a:ext cx="10287000" cy="2209800"/>
            </a:xfrm>
            <a:prstGeom prst="roundRect">
              <a:avLst>
                <a:gd name="adj" fmla="val 6158"/>
              </a:avLst>
            </a:prstGeom>
            <a:ln w="571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59" name="그룹 58">
              <a:extLst>
                <a:ext uri="{FF2B5EF4-FFF2-40B4-BE49-F238E27FC236}">
                  <a16:creationId xmlns:a16="http://schemas.microsoft.com/office/drawing/2014/main" id="{FAF22DC8-D66B-FD9F-62BA-03792B8180C4}"/>
                </a:ext>
              </a:extLst>
            </p:cNvPr>
            <p:cNvGrpSpPr/>
            <p:nvPr/>
          </p:nvGrpSpPr>
          <p:grpSpPr>
            <a:xfrm>
              <a:off x="2530856" y="4025900"/>
              <a:ext cx="381000" cy="381000"/>
              <a:chOff x="1638300" y="4152900"/>
              <a:chExt cx="381000" cy="381000"/>
            </a:xfrm>
          </p:grpSpPr>
          <p:pic>
            <p:nvPicPr>
              <p:cNvPr id="60" name="Picture 11">
                <a:extLst>
                  <a:ext uri="{FF2B5EF4-FFF2-40B4-BE49-F238E27FC236}">
                    <a16:creationId xmlns:a16="http://schemas.microsoft.com/office/drawing/2014/main" id="{E4BF6216-CBD4-1BA5-C3BF-C9FC76B6314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38300" y="4152900"/>
                <a:ext cx="381000" cy="381000"/>
              </a:xfrm>
              <a:prstGeom prst="rect">
                <a:avLst/>
              </a:prstGeom>
            </p:spPr>
          </p:pic>
          <p:sp>
            <p:nvSpPr>
              <p:cNvPr id="61" name="TextBox 12">
                <a:extLst>
                  <a:ext uri="{FF2B5EF4-FFF2-40B4-BE49-F238E27FC236}">
                    <a16:creationId xmlns:a16="http://schemas.microsoft.com/office/drawing/2014/main" id="{C506566F-A2EB-D068-1A22-1BFC08778969}"/>
                  </a:ext>
                </a:extLst>
              </p:cNvPr>
              <p:cNvSpPr txBox="1"/>
              <p:nvPr/>
            </p:nvSpPr>
            <p:spPr>
              <a:xfrm>
                <a:off x="1701800" y="4165600"/>
                <a:ext cx="254000" cy="34290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lvl="0" algn="ctr">
                  <a:lnSpc>
                    <a:spcPct val="95449"/>
                  </a:lnSpc>
                </a:pPr>
                <a:r>
                  <a:rPr lang="en-US" sz="2000" b="0" i="0" u="none" strike="noStrike" dirty="0">
                    <a:solidFill>
                      <a:srgbClr val="FAFAFA"/>
                    </a:solidFill>
                    <a:latin typeface="Pretendard Bold"/>
                  </a:rPr>
                  <a:t>5</a:t>
                </a:r>
              </a:p>
            </p:txBody>
          </p:sp>
        </p:grpSp>
        <p:sp>
          <p:nvSpPr>
            <p:cNvPr id="62" name="TextBox 13">
              <a:extLst>
                <a:ext uri="{FF2B5EF4-FFF2-40B4-BE49-F238E27FC236}">
                  <a16:creationId xmlns:a16="http://schemas.microsoft.com/office/drawing/2014/main" id="{C9F71FCD-201D-7DF1-A000-A1E8F7F4B5F5}"/>
                </a:ext>
              </a:extLst>
            </p:cNvPr>
            <p:cNvSpPr txBox="1"/>
            <p:nvPr/>
          </p:nvSpPr>
          <p:spPr>
            <a:xfrm>
              <a:off x="3140456" y="3924300"/>
              <a:ext cx="7451344" cy="584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>
                <a:lnSpc>
                  <a:spcPct val="95449"/>
                </a:lnSpc>
              </a:pPr>
              <a:r>
                <a:rPr lang="ko-KR" altLang="en-US" sz="3600" dirty="0">
                  <a:solidFill>
                    <a:srgbClr val="323232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저장 및 불러오기 시스템</a:t>
              </a:r>
              <a:endParaRPr lang="en-US" altLang="ko-KR" sz="3600" dirty="0">
                <a:solidFill>
                  <a:srgbClr val="32323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  <p:sp>
          <p:nvSpPr>
            <p:cNvPr id="63" name="TextBox 13">
              <a:extLst>
                <a:ext uri="{FF2B5EF4-FFF2-40B4-BE49-F238E27FC236}">
                  <a16:creationId xmlns:a16="http://schemas.microsoft.com/office/drawing/2014/main" id="{E3709985-C974-D545-092D-C9C98A2EA73E}"/>
                </a:ext>
              </a:extLst>
            </p:cNvPr>
            <p:cNvSpPr txBox="1"/>
            <p:nvPr/>
          </p:nvSpPr>
          <p:spPr>
            <a:xfrm>
              <a:off x="3292855" y="4508500"/>
              <a:ext cx="9006407" cy="1168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285750" lvl="0" indent="-285750">
                <a:lnSpc>
                  <a:spcPct val="95449"/>
                </a:lnSpc>
                <a:buFont typeface="Arial" panose="020B0604020202020204" pitchFamily="34" charset="0"/>
                <a:buChar char="•"/>
              </a:pPr>
              <a:r>
                <a:rPr lang="ko-KR" altLang="en-US" sz="2800" dirty="0">
                  <a:solidFill>
                    <a:srgbClr val="323232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조리 중인 요리부터 담았던 재료</a:t>
              </a:r>
              <a:r>
                <a:rPr lang="en-US" altLang="ko-KR" sz="2800" dirty="0">
                  <a:solidFill>
                    <a:srgbClr val="323232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 </a:t>
              </a:r>
              <a:r>
                <a:rPr lang="ko-KR" altLang="en-US" sz="2800" dirty="0">
                  <a:solidFill>
                    <a:srgbClr val="323232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영수증까지 전부 세이브 가능</a:t>
              </a:r>
              <a:endParaRPr lang="en-US" altLang="ko-KR" sz="2800" dirty="0">
                <a:solidFill>
                  <a:srgbClr val="32323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marL="285750" lvl="0" indent="-285750">
                <a:lnSpc>
                  <a:spcPct val="95449"/>
                </a:lnSpc>
                <a:buFont typeface="Arial" panose="020B0604020202020204" pitchFamily="34" charset="0"/>
                <a:buChar char="•"/>
              </a:pPr>
              <a:r>
                <a:rPr lang="ko-KR" altLang="en-US" sz="2800" dirty="0">
                  <a:solidFill>
                    <a:srgbClr val="323232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편의성과 게임성의 </a:t>
              </a:r>
              <a:r>
                <a:rPr lang="ko-KR" altLang="en-US" sz="2800">
                  <a:solidFill>
                    <a:srgbClr val="323232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균형을 고려하여 </a:t>
              </a:r>
              <a:r>
                <a:rPr lang="ko-KR" altLang="en-US" sz="2800" dirty="0">
                  <a:solidFill>
                    <a:srgbClr val="323232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수정 예정</a:t>
              </a:r>
              <a:endParaRPr lang="en-US" altLang="ko-KR" sz="2800" dirty="0">
                <a:solidFill>
                  <a:srgbClr val="32323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</p:grpSp>
      <p:pic>
        <p:nvPicPr>
          <p:cNvPr id="4" name="그림 3" descr="텍스트, 스크린샷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16F8D3F-754A-54B3-1810-B321DF79FDB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0339" y="3803790"/>
            <a:ext cx="9314622" cy="5244132"/>
          </a:xfrm>
          <a:prstGeom prst="rect">
            <a:avLst/>
          </a:prstGeom>
        </p:spPr>
      </p:pic>
      <p:sp>
        <p:nvSpPr>
          <p:cNvPr id="6" name="타원 5">
            <a:extLst>
              <a:ext uri="{FF2B5EF4-FFF2-40B4-BE49-F238E27FC236}">
                <a16:creationId xmlns:a16="http://schemas.microsoft.com/office/drawing/2014/main" id="{2A4966A4-5F65-6237-0237-713D39B5897B}"/>
              </a:ext>
            </a:extLst>
          </p:cNvPr>
          <p:cNvSpPr/>
          <p:nvPr/>
        </p:nvSpPr>
        <p:spPr>
          <a:xfrm>
            <a:off x="6477000" y="7419592"/>
            <a:ext cx="685800" cy="695708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E684A5F8-943B-D4D8-A7F0-4843A4168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925800" y="9728200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2864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D35C1C-6931-C5D1-78A7-A348EC03C7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4B21CD03-37BD-DF85-F250-AD450B9F49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1100" y="-1549400"/>
            <a:ext cx="13373100" cy="13373100"/>
          </a:xfrm>
          <a:prstGeom prst="rect">
            <a:avLst/>
          </a:prstGeom>
        </p:spPr>
      </p:pic>
      <p:grpSp>
        <p:nvGrpSpPr>
          <p:cNvPr id="8" name="Group 8">
            <a:extLst>
              <a:ext uri="{FF2B5EF4-FFF2-40B4-BE49-F238E27FC236}">
                <a16:creationId xmlns:a16="http://schemas.microsoft.com/office/drawing/2014/main" id="{933D2440-CA83-05EF-E479-E674658C4953}"/>
              </a:ext>
            </a:extLst>
          </p:cNvPr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C1B1939A-42D2-81B3-DDBE-F0844228E233}"/>
              </a:ext>
            </a:extLst>
          </p:cNvPr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D61F0579-4762-C29A-FED7-94745334DD2F}"/>
              </a:ext>
            </a:extLst>
          </p:cNvPr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007234A0-A2B2-B888-9421-77E2F0F6F009}"/>
              </a:ext>
            </a:extLst>
          </p:cNvPr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80240C9E-8937-272D-4D17-08EA3275E457}"/>
              </a:ext>
            </a:extLst>
          </p:cNvPr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6EB2B5F2-807F-A35C-B72A-3A9D3C1A62F9}"/>
              </a:ext>
            </a:extLst>
          </p:cNvPr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93F21AF1-B0B0-2470-F71C-C24BB76278A2}"/>
              </a:ext>
            </a:extLst>
          </p:cNvPr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38B3C748-FF17-7C16-7E34-0593C7123CCF}"/>
              </a:ext>
            </a:extLst>
          </p:cNvPr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32" name="Group 32">
            <a:extLst>
              <a:ext uri="{FF2B5EF4-FFF2-40B4-BE49-F238E27FC236}">
                <a16:creationId xmlns:a16="http://schemas.microsoft.com/office/drawing/2014/main" id="{DE5CB1A6-0CEA-5A24-91CD-EAF8AE200CDF}"/>
              </a:ext>
            </a:extLst>
          </p:cNvPr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64" name="그룹 63">
            <a:extLst>
              <a:ext uri="{FF2B5EF4-FFF2-40B4-BE49-F238E27FC236}">
                <a16:creationId xmlns:a16="http://schemas.microsoft.com/office/drawing/2014/main" id="{54E27F40-A411-54D8-B928-C4A54E8DD1BA}"/>
              </a:ext>
            </a:extLst>
          </p:cNvPr>
          <p:cNvGrpSpPr/>
          <p:nvPr/>
        </p:nvGrpSpPr>
        <p:grpSpPr>
          <a:xfrm>
            <a:off x="1066800" y="952500"/>
            <a:ext cx="8443976" cy="2209800"/>
            <a:chOff x="2147824" y="3619500"/>
            <a:chExt cx="8443976" cy="2209800"/>
          </a:xfrm>
        </p:grpSpPr>
        <p:sp>
          <p:nvSpPr>
            <p:cNvPr id="58" name="사각형: 둥근 모서리 57">
              <a:extLst>
                <a:ext uri="{FF2B5EF4-FFF2-40B4-BE49-F238E27FC236}">
                  <a16:creationId xmlns:a16="http://schemas.microsoft.com/office/drawing/2014/main" id="{8BF263CA-3A9E-7E36-4AEC-4BF0706C195E}"/>
                </a:ext>
              </a:extLst>
            </p:cNvPr>
            <p:cNvSpPr/>
            <p:nvPr/>
          </p:nvSpPr>
          <p:spPr>
            <a:xfrm>
              <a:off x="2147824" y="3619500"/>
              <a:ext cx="7315200" cy="2209800"/>
            </a:xfrm>
            <a:prstGeom prst="roundRect">
              <a:avLst>
                <a:gd name="adj" fmla="val 6158"/>
              </a:avLst>
            </a:prstGeom>
            <a:ln w="571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59" name="그룹 58">
              <a:extLst>
                <a:ext uri="{FF2B5EF4-FFF2-40B4-BE49-F238E27FC236}">
                  <a16:creationId xmlns:a16="http://schemas.microsoft.com/office/drawing/2014/main" id="{D9125765-6A1E-70C5-C91B-82A90A712A3F}"/>
                </a:ext>
              </a:extLst>
            </p:cNvPr>
            <p:cNvGrpSpPr/>
            <p:nvPr/>
          </p:nvGrpSpPr>
          <p:grpSpPr>
            <a:xfrm>
              <a:off x="2530856" y="4025900"/>
              <a:ext cx="381000" cy="381000"/>
              <a:chOff x="1638300" y="4152900"/>
              <a:chExt cx="381000" cy="381000"/>
            </a:xfrm>
          </p:grpSpPr>
          <p:pic>
            <p:nvPicPr>
              <p:cNvPr id="60" name="Picture 11">
                <a:extLst>
                  <a:ext uri="{FF2B5EF4-FFF2-40B4-BE49-F238E27FC236}">
                    <a16:creationId xmlns:a16="http://schemas.microsoft.com/office/drawing/2014/main" id="{979DD6E5-2A4F-D76C-BB2C-2178A2B01FC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38300" y="4152900"/>
                <a:ext cx="381000" cy="381000"/>
              </a:xfrm>
              <a:prstGeom prst="rect">
                <a:avLst/>
              </a:prstGeom>
            </p:spPr>
          </p:pic>
          <p:sp>
            <p:nvSpPr>
              <p:cNvPr id="61" name="TextBox 12">
                <a:extLst>
                  <a:ext uri="{FF2B5EF4-FFF2-40B4-BE49-F238E27FC236}">
                    <a16:creationId xmlns:a16="http://schemas.microsoft.com/office/drawing/2014/main" id="{EEE51C08-EBA0-9AB1-F7DD-26911A9F2BB5}"/>
                  </a:ext>
                </a:extLst>
              </p:cNvPr>
              <p:cNvSpPr txBox="1"/>
              <p:nvPr/>
            </p:nvSpPr>
            <p:spPr>
              <a:xfrm>
                <a:off x="1701800" y="4165600"/>
                <a:ext cx="254000" cy="34290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lvl="0" algn="ctr">
                  <a:lnSpc>
                    <a:spcPct val="95449"/>
                  </a:lnSpc>
                </a:pPr>
                <a:r>
                  <a:rPr lang="en-US" sz="2000" dirty="0">
                    <a:solidFill>
                      <a:srgbClr val="FAFAFA"/>
                    </a:solidFill>
                    <a:latin typeface="Pretendard Bold"/>
                  </a:rPr>
                  <a:t>6</a:t>
                </a:r>
                <a:endParaRPr lang="en-US" sz="2000" b="0" i="0" u="none" strike="noStrike" dirty="0">
                  <a:solidFill>
                    <a:srgbClr val="FAFAFA"/>
                  </a:solidFill>
                  <a:latin typeface="Pretendard Bold"/>
                </a:endParaRPr>
              </a:p>
            </p:txBody>
          </p:sp>
        </p:grpSp>
        <p:sp>
          <p:nvSpPr>
            <p:cNvPr id="62" name="TextBox 13">
              <a:extLst>
                <a:ext uri="{FF2B5EF4-FFF2-40B4-BE49-F238E27FC236}">
                  <a16:creationId xmlns:a16="http://schemas.microsoft.com/office/drawing/2014/main" id="{8635199A-4329-4F8B-4BB9-EA764FBDEECB}"/>
                </a:ext>
              </a:extLst>
            </p:cNvPr>
            <p:cNvSpPr txBox="1"/>
            <p:nvPr/>
          </p:nvSpPr>
          <p:spPr>
            <a:xfrm>
              <a:off x="3140456" y="3924300"/>
              <a:ext cx="7451344" cy="584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>
                <a:lnSpc>
                  <a:spcPct val="95449"/>
                </a:lnSpc>
              </a:pPr>
              <a:r>
                <a:rPr lang="en-US" altLang="ko-KR" sz="3600" dirty="0">
                  <a:solidFill>
                    <a:srgbClr val="323232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UI </a:t>
              </a:r>
              <a:r>
                <a:rPr lang="ko-KR" altLang="en-US" sz="3600" dirty="0">
                  <a:solidFill>
                    <a:srgbClr val="323232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및 </a:t>
              </a:r>
              <a:r>
                <a:rPr lang="en-US" altLang="ko-KR" sz="3600" dirty="0">
                  <a:solidFill>
                    <a:srgbClr val="323232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UX </a:t>
              </a:r>
              <a:r>
                <a:rPr lang="ko-KR" altLang="en-US" sz="3600" dirty="0">
                  <a:solidFill>
                    <a:srgbClr val="323232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디자인</a:t>
              </a:r>
              <a:endParaRPr lang="en-US" altLang="ko-KR" sz="3600" dirty="0">
                <a:solidFill>
                  <a:srgbClr val="32323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  <p:sp>
          <p:nvSpPr>
            <p:cNvPr id="63" name="TextBox 13">
              <a:extLst>
                <a:ext uri="{FF2B5EF4-FFF2-40B4-BE49-F238E27FC236}">
                  <a16:creationId xmlns:a16="http://schemas.microsoft.com/office/drawing/2014/main" id="{F8F94EC4-FF62-565A-4A07-D4E8E310DF81}"/>
                </a:ext>
              </a:extLst>
            </p:cNvPr>
            <p:cNvSpPr txBox="1"/>
            <p:nvPr/>
          </p:nvSpPr>
          <p:spPr>
            <a:xfrm>
              <a:off x="3292856" y="4508500"/>
              <a:ext cx="5865368" cy="1168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285750" lvl="0" indent="-285750">
                <a:lnSpc>
                  <a:spcPct val="95449"/>
                </a:lnSpc>
                <a:buFont typeface="Arial" panose="020B0604020202020204" pitchFamily="34" charset="0"/>
                <a:buChar char="•"/>
              </a:pPr>
              <a:r>
                <a:rPr lang="ko-KR" altLang="en-US" sz="2800" dirty="0">
                  <a:solidFill>
                    <a:srgbClr val="323232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영수증 및 조리된 음식 </a:t>
              </a:r>
              <a:r>
                <a:rPr lang="ko-KR" altLang="en-US" sz="2800" dirty="0" err="1">
                  <a:solidFill>
                    <a:srgbClr val="323232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인터렉션</a:t>
              </a:r>
              <a:endParaRPr lang="en-US" altLang="ko-KR" sz="2800" dirty="0">
                <a:solidFill>
                  <a:srgbClr val="32323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marL="285750" lvl="0" indent="-285750">
                <a:lnSpc>
                  <a:spcPct val="95449"/>
                </a:lnSpc>
                <a:buFont typeface="Arial" panose="020B0604020202020204" pitchFamily="34" charset="0"/>
                <a:buChar char="•"/>
              </a:pPr>
              <a:r>
                <a:rPr lang="ko-KR" altLang="en-US" sz="2800" dirty="0">
                  <a:solidFill>
                    <a:srgbClr val="323232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마감 시 매출</a:t>
              </a:r>
              <a:r>
                <a:rPr lang="en-US" altLang="ko-KR" sz="2800" dirty="0">
                  <a:solidFill>
                    <a:srgbClr val="323232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/</a:t>
              </a:r>
              <a:r>
                <a:rPr lang="ko-KR" altLang="en-US" sz="2800" dirty="0">
                  <a:solidFill>
                    <a:srgbClr val="323232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손실</a:t>
              </a:r>
              <a:r>
                <a:rPr lang="en-US" altLang="ko-KR" sz="2800" dirty="0">
                  <a:solidFill>
                    <a:srgbClr val="323232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/</a:t>
              </a:r>
              <a:r>
                <a:rPr lang="ko-KR" altLang="en-US" sz="2800" dirty="0">
                  <a:solidFill>
                    <a:srgbClr val="323232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세금 등 통계 </a:t>
              </a:r>
              <a:r>
                <a:rPr lang="en-US" altLang="ko-KR" sz="2800" dirty="0">
                  <a:solidFill>
                    <a:srgbClr val="323232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UI </a:t>
              </a:r>
              <a:r>
                <a:rPr lang="ko-KR" altLang="en-US" sz="2800" dirty="0">
                  <a:solidFill>
                    <a:srgbClr val="323232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제공</a:t>
              </a:r>
              <a:endParaRPr lang="en-US" altLang="ko-KR" sz="2800" dirty="0">
                <a:solidFill>
                  <a:srgbClr val="32323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</p:grpSp>
      <p:pic>
        <p:nvPicPr>
          <p:cNvPr id="4" name="그림 3">
            <a:extLst>
              <a:ext uri="{FF2B5EF4-FFF2-40B4-BE49-F238E27FC236}">
                <a16:creationId xmlns:a16="http://schemas.microsoft.com/office/drawing/2014/main" id="{30084A5E-D07C-054A-F1E5-ECFD027BCF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" y="4272980"/>
            <a:ext cx="7315200" cy="4644573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27380870-107A-5CDD-9F27-07AC6ECDFA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55887" y="952500"/>
            <a:ext cx="4347961" cy="8000999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16F42F35-A7D4-F816-A092-EF255F70AF4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263517" y="952501"/>
            <a:ext cx="4099687" cy="8000999"/>
          </a:xfrm>
          <a:prstGeom prst="rect">
            <a:avLst/>
          </a:prstGeom>
        </p:spPr>
      </p:pic>
      <p:sp>
        <p:nvSpPr>
          <p:cNvPr id="11" name="TextBox 12">
            <a:extLst>
              <a:ext uri="{FF2B5EF4-FFF2-40B4-BE49-F238E27FC236}">
                <a16:creationId xmlns:a16="http://schemas.microsoft.com/office/drawing/2014/main" id="{E4D7E8E9-D19B-E570-09F6-AEA74C9F7343}"/>
              </a:ext>
            </a:extLst>
          </p:cNvPr>
          <p:cNvSpPr txBox="1"/>
          <p:nvPr/>
        </p:nvSpPr>
        <p:spPr>
          <a:xfrm>
            <a:off x="13627100" y="9224911"/>
            <a:ext cx="4419600" cy="719189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altLang="en-US" sz="2400" b="0" i="0" u="none" strike="noStrike">
                <a:solidFill>
                  <a:srgbClr val="32323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개발</a:t>
            </a:r>
            <a:r>
              <a:rPr lang="ko-KR" altLang="en-US" sz="2400">
                <a:solidFill>
                  <a:srgbClr val="32323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2400" b="0" i="0" u="none" strike="noStrike">
                <a:solidFill>
                  <a:srgbClr val="32323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중인</a:t>
            </a:r>
            <a:r>
              <a:rPr lang="ko-KR" altLang="en-US" sz="2400">
                <a:solidFill>
                  <a:srgbClr val="32323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2400" b="0" i="0" u="none" strike="noStrike">
                <a:solidFill>
                  <a:srgbClr val="32323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요소입니다</a:t>
            </a:r>
            <a:r>
              <a:rPr lang="en-US" altLang="ko-KR" sz="2400" b="0" i="0" u="none" strike="noStrike">
                <a:solidFill>
                  <a:srgbClr val="32323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.</a:t>
            </a:r>
            <a:endParaRPr lang="ko-KR" sz="2400" b="0" i="0" u="none" strike="noStrike" dirty="0">
              <a:solidFill>
                <a:srgbClr val="323232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B0DAA9B6-2C07-5C56-4EF1-9D7A29403EEA}"/>
              </a:ext>
            </a:extLst>
          </p:cNvPr>
          <p:cNvSpPr txBox="1">
            <a:spLocks/>
          </p:cNvSpPr>
          <p:nvPr/>
        </p:nvSpPr>
        <p:spPr>
          <a:xfrm>
            <a:off x="15925800" y="972820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0823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CE127-66A3-D5C3-A85C-A6F9A429AE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B5CF2A5E-B995-F6D9-737A-9DC07B8136F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2100" y="-1549400"/>
            <a:ext cx="13373100" cy="13373100"/>
          </a:xfrm>
          <a:prstGeom prst="rect">
            <a:avLst/>
          </a:prstGeom>
        </p:spPr>
      </p:pic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97504343-1BA1-3F88-A928-AFA9FD45DA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0736257"/>
              </p:ext>
            </p:extLst>
          </p:nvPr>
        </p:nvGraphicFramePr>
        <p:xfrm>
          <a:off x="1473200" y="3314701"/>
          <a:ext cx="15417800" cy="6096000"/>
        </p:xfrm>
        <a:graphic>
          <a:graphicData uri="http://schemas.openxmlformats.org/drawingml/2006/table">
            <a:tbl>
              <a:tblPr/>
              <a:tblGrid>
                <a:gridCol w="218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60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8926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2800" b="0" i="0" u="none" strike="noStrike" dirty="0">
                          <a:solidFill>
                            <a:srgbClr val="323232"/>
                          </a:solidFill>
                          <a:ea typeface="Pretendard Bold"/>
                        </a:rPr>
                        <a:t>기간</a:t>
                      </a:r>
                      <a:endParaRPr lang="en-US" sz="1400" dirty="0"/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4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4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2800" b="0" i="0" u="none" strike="noStrike" dirty="0">
                          <a:solidFill>
                            <a:srgbClr val="323232"/>
                          </a:solidFill>
                          <a:ea typeface="Pretendard Bold"/>
                        </a:rPr>
                        <a:t>개발 계획</a:t>
                      </a:r>
                      <a:endParaRPr lang="en-US" sz="1400" dirty="0"/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4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4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sz="2800" b="0" i="0" u="none" strike="noStrike" dirty="0">
                          <a:solidFill>
                            <a:srgbClr val="323232"/>
                          </a:solidFill>
                          <a:ea typeface="Pretendard Bold"/>
                        </a:rPr>
                        <a:t>비고</a:t>
                      </a:r>
                      <a:endParaRPr lang="en-US" sz="1400" dirty="0"/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4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4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9973">
                <a:tc>
                  <a:txBody>
                    <a:bodyPr/>
                    <a:lstStyle/>
                    <a:p>
                      <a:pPr lvl="0" algn="ctr">
                        <a:lnSpc>
                          <a:spcPct val="83000"/>
                        </a:lnSpc>
                        <a:defRPr/>
                      </a:pPr>
                      <a:r>
                        <a:rPr lang="en-US" altLang="ko-KR" sz="2400" b="0" i="0" u="none" strike="noStrike" dirty="0">
                          <a:solidFill>
                            <a:srgbClr val="323232"/>
                          </a:solidFill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7</a:t>
                      </a:r>
                      <a:r>
                        <a:rPr lang="ko-KR" altLang="en-US" sz="2400" b="0" i="0" u="none" strike="noStrike" dirty="0">
                          <a:solidFill>
                            <a:srgbClr val="323232"/>
                          </a:solidFill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월 </a:t>
                      </a:r>
                      <a:r>
                        <a:rPr lang="en-US" altLang="ko-KR" sz="2400" b="0" i="0" u="none" strike="noStrike" dirty="0">
                          <a:solidFill>
                            <a:srgbClr val="323232"/>
                          </a:solidFill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3</a:t>
                      </a:r>
                      <a:r>
                        <a:rPr lang="ko-KR" altLang="en-US" sz="2400" b="0" i="0" u="none" strike="noStrike" dirty="0">
                          <a:solidFill>
                            <a:srgbClr val="323232"/>
                          </a:solidFill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주차</a:t>
                      </a:r>
                      <a:endParaRPr lang="en-US" altLang="ko-KR" sz="2400" dirty="0">
                        <a:latin typeface="Pretendard Regular" panose="020B0600000101010101" charset="-127"/>
                        <a:ea typeface="Pretendard Regular" panose="020B0600000101010101" charset="-127"/>
                      </a:endParaRPr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4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2400" b="0" i="0" u="none" strike="noStrike" dirty="0">
                          <a:solidFill>
                            <a:srgbClr val="323232"/>
                          </a:solidFill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하루 마감 시스템 구현 마무리</a:t>
                      </a:r>
                      <a:r>
                        <a:rPr lang="en-US" altLang="ko-KR" sz="2400" b="0" i="0" u="none" strike="noStrike" dirty="0">
                          <a:solidFill>
                            <a:srgbClr val="323232"/>
                          </a:solidFill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, </a:t>
                      </a:r>
                      <a:r>
                        <a:rPr lang="ko-KR" altLang="en-US" sz="2400" b="0" i="0" u="none" strike="noStrike" dirty="0">
                          <a:solidFill>
                            <a:srgbClr val="323232"/>
                          </a:solidFill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조리 실수 시 전화 피드백</a:t>
                      </a:r>
                      <a:endParaRPr lang="en-US" sz="2400" b="0" i="0" u="none" strike="noStrike" dirty="0">
                        <a:solidFill>
                          <a:srgbClr val="323232"/>
                        </a:solidFill>
                        <a:latin typeface="Pretendard Regular" panose="020B0600000101010101" charset="-127"/>
                        <a:ea typeface="Pretendard Regular" panose="020B0600000101010101" charset="-127"/>
                      </a:endParaRPr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4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2400" dirty="0">
                        <a:latin typeface="Pretendard Regular" panose="020B0600000101010101" charset="-127"/>
                        <a:ea typeface="Pretendard Regular" panose="020B0600000101010101" charset="-127"/>
                      </a:endParaRPr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4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342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400" b="0" i="0" u="none" strike="noStrike" dirty="0">
                          <a:solidFill>
                            <a:srgbClr val="323232"/>
                          </a:solidFill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7</a:t>
                      </a:r>
                      <a:r>
                        <a:rPr lang="ko-KR" altLang="en-US" sz="2400" b="0" i="0" u="none" strike="noStrike" dirty="0">
                          <a:solidFill>
                            <a:srgbClr val="323232"/>
                          </a:solidFill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월 </a:t>
                      </a:r>
                      <a:r>
                        <a:rPr lang="en-US" altLang="ko-KR" sz="2400" b="0" i="0" u="none" strike="noStrike" dirty="0">
                          <a:solidFill>
                            <a:srgbClr val="323232"/>
                          </a:solidFill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4</a:t>
                      </a:r>
                      <a:r>
                        <a:rPr lang="ko-KR" altLang="en-US" sz="2400" b="0" i="0" u="none" strike="noStrike" dirty="0">
                          <a:solidFill>
                            <a:srgbClr val="323232"/>
                          </a:solidFill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주차</a:t>
                      </a:r>
                      <a:endParaRPr lang="en-US" altLang="ko-KR" sz="2400" dirty="0">
                        <a:latin typeface="Pretendard Regular" panose="020B0600000101010101" charset="-127"/>
                        <a:ea typeface="Pretendard Regular" panose="020B0600000101010101" charset="-127"/>
                      </a:endParaRPr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2400" b="0" i="0" u="none" strike="noStrike" dirty="0">
                          <a:solidFill>
                            <a:srgbClr val="323232"/>
                          </a:solidFill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주문 처리 성공률에 따라 주문 </a:t>
                      </a:r>
                      <a:r>
                        <a:rPr lang="ko-KR" altLang="en-US" sz="2400" b="0" i="0" u="none" strike="noStrike" dirty="0" err="1">
                          <a:solidFill>
                            <a:srgbClr val="323232"/>
                          </a:solidFill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버즈량</a:t>
                      </a:r>
                      <a:r>
                        <a:rPr lang="ko-KR" altLang="en-US" sz="2400" b="0" i="0" u="none" strike="noStrike" dirty="0">
                          <a:solidFill>
                            <a:srgbClr val="323232"/>
                          </a:solidFill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 상세 조절</a:t>
                      </a:r>
                      <a:endParaRPr lang="en-US" sz="2400" b="0" i="0" u="none" strike="noStrike" dirty="0">
                        <a:solidFill>
                          <a:srgbClr val="323232"/>
                        </a:solidFill>
                        <a:latin typeface="Pretendard Regular" panose="020B0600000101010101" charset="-127"/>
                        <a:ea typeface="Pretendard Regular" panose="020B0600000101010101" charset="-127"/>
                      </a:endParaRPr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2400" dirty="0">
                        <a:latin typeface="Pretendard Regular" panose="020B0600000101010101" charset="-127"/>
                        <a:ea typeface="Pretendard Regular" panose="020B0600000101010101" charset="-127"/>
                      </a:endParaRPr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5168">
                <a:tc>
                  <a:txBody>
                    <a:bodyPr/>
                    <a:lstStyle/>
                    <a:p>
                      <a:pPr lvl="0" algn="ctr">
                        <a:lnSpc>
                          <a:spcPct val="83000"/>
                        </a:lnSpc>
                        <a:defRPr/>
                      </a:pPr>
                      <a:r>
                        <a:rPr lang="en-US" altLang="ko-KR" sz="2400" b="0" i="0" u="none" strike="noStrike" dirty="0">
                          <a:solidFill>
                            <a:srgbClr val="323232"/>
                          </a:solidFill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8</a:t>
                      </a:r>
                      <a:r>
                        <a:rPr lang="ko-KR" altLang="en-US" sz="2400" b="0" i="0" u="none" strike="noStrike" dirty="0">
                          <a:solidFill>
                            <a:srgbClr val="323232"/>
                          </a:solidFill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월 </a:t>
                      </a:r>
                      <a:r>
                        <a:rPr lang="en-US" altLang="ko-KR" sz="2400" b="0" i="0" u="none" strike="noStrike" dirty="0">
                          <a:solidFill>
                            <a:srgbClr val="323232"/>
                          </a:solidFill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1</a:t>
                      </a:r>
                      <a:r>
                        <a:rPr lang="ko-KR" altLang="en-US" sz="2400" b="0" i="0" u="none" strike="noStrike" dirty="0">
                          <a:solidFill>
                            <a:srgbClr val="323232"/>
                          </a:solidFill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주차</a:t>
                      </a:r>
                      <a:endParaRPr lang="en-US" altLang="ko-KR" sz="2400" dirty="0">
                        <a:latin typeface="Pretendard Regular" panose="020B0600000101010101" charset="-127"/>
                        <a:ea typeface="Pretendard Regular" panose="020B0600000101010101" charset="-127"/>
                      </a:endParaRPr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83000"/>
                        </a:lnSpc>
                        <a:defRPr/>
                      </a:pPr>
                      <a:r>
                        <a:rPr lang="ko-KR" altLang="en-US" sz="2400" b="0" i="0" u="none" strike="noStrike" dirty="0">
                          <a:solidFill>
                            <a:srgbClr val="323232"/>
                          </a:solidFill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아트 합류하는 시점부터 아트 리소스 적용 시작</a:t>
                      </a:r>
                      <a:endParaRPr lang="en-US" sz="2400" b="0" i="0" u="none" strike="noStrike" dirty="0">
                        <a:solidFill>
                          <a:srgbClr val="323232"/>
                        </a:solidFill>
                        <a:latin typeface="Pretendard Regular" panose="020B0600000101010101" charset="-127"/>
                        <a:ea typeface="Pretendard Regular" panose="020B0600000101010101" charset="-127"/>
                      </a:endParaRPr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00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만약 </a:t>
                      </a:r>
                      <a:endParaRPr lang="en-US" altLang="ko-KR" sz="2000" dirty="0">
                        <a:solidFill>
                          <a:schemeClr val="bg1">
                            <a:lumMod val="65000"/>
                          </a:schemeClr>
                        </a:solidFill>
                        <a:latin typeface="Pretendard Regular" panose="020B0600000101010101" charset="-127"/>
                        <a:ea typeface="Pretendard Regular" panose="020B0600000101010101" charset="-127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00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아트가 없다면</a:t>
                      </a:r>
                      <a:r>
                        <a:rPr lang="en-US" altLang="ko-KR" sz="200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…?</a:t>
                      </a:r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6756">
                <a:tc>
                  <a:txBody>
                    <a:bodyPr/>
                    <a:lstStyle/>
                    <a:p>
                      <a:pPr lvl="0" algn="ctr">
                        <a:lnSpc>
                          <a:spcPct val="83000"/>
                        </a:lnSpc>
                        <a:defRPr/>
                      </a:pPr>
                      <a:r>
                        <a:rPr lang="en-US" altLang="ko-KR" sz="2400" b="0" i="0" u="none" strike="noStrike" dirty="0">
                          <a:solidFill>
                            <a:srgbClr val="323232"/>
                          </a:solidFill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8</a:t>
                      </a:r>
                      <a:r>
                        <a:rPr lang="ko-KR" altLang="en-US" sz="2400" b="0" i="0" u="none" strike="noStrike" dirty="0">
                          <a:solidFill>
                            <a:srgbClr val="323232"/>
                          </a:solidFill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월 </a:t>
                      </a:r>
                      <a:r>
                        <a:rPr lang="en-US" altLang="ko-KR" sz="2400" b="0" i="0" u="none" strike="noStrike" dirty="0">
                          <a:solidFill>
                            <a:srgbClr val="323232"/>
                          </a:solidFill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2</a:t>
                      </a:r>
                      <a:r>
                        <a:rPr lang="ko-KR" altLang="en-US" sz="2400" b="0" i="0" u="none" strike="noStrike" dirty="0">
                          <a:solidFill>
                            <a:srgbClr val="323232"/>
                          </a:solidFill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주차</a:t>
                      </a:r>
                      <a:endParaRPr lang="en-US" altLang="ko-KR" sz="2400" dirty="0">
                        <a:latin typeface="Pretendard Regular" panose="020B0600000101010101" charset="-127"/>
                        <a:ea typeface="Pretendard Regular" panose="020B0600000101010101" charset="-127"/>
                      </a:endParaRPr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83000"/>
                        </a:lnSpc>
                        <a:defRPr/>
                      </a:pPr>
                      <a:r>
                        <a:rPr lang="ko-KR" altLang="en-US" sz="2400" b="0" i="0" u="none" strike="noStrike" dirty="0">
                          <a:solidFill>
                            <a:srgbClr val="323232"/>
                          </a:solidFill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아트 리소스 적용으로 인한 버그</a:t>
                      </a:r>
                      <a:r>
                        <a:rPr lang="en-US" altLang="ko-KR" sz="2400" b="0" i="0" u="none" strike="noStrike">
                          <a:solidFill>
                            <a:srgbClr val="323232"/>
                          </a:solidFill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, </a:t>
                      </a:r>
                      <a:r>
                        <a:rPr lang="ko-KR" altLang="en-US" sz="2400" b="0" i="0" u="none" strike="noStrike">
                          <a:solidFill>
                            <a:srgbClr val="323232"/>
                          </a:solidFill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예외 상황</a:t>
                      </a:r>
                      <a:r>
                        <a:rPr lang="en-US" altLang="ko-KR" sz="2400" b="0" i="0" u="none" strike="noStrike">
                          <a:solidFill>
                            <a:srgbClr val="323232"/>
                          </a:solidFill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 </a:t>
                      </a:r>
                      <a:r>
                        <a:rPr lang="ko-KR" altLang="en-US" sz="2400" b="0" i="0" u="none" strike="noStrike" dirty="0">
                          <a:solidFill>
                            <a:srgbClr val="323232"/>
                          </a:solidFill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등</a:t>
                      </a:r>
                      <a:r>
                        <a:rPr lang="en-US" altLang="ko-KR" sz="2400" b="0" i="0" u="none" strike="noStrike" dirty="0">
                          <a:solidFill>
                            <a:srgbClr val="323232"/>
                          </a:solidFill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 </a:t>
                      </a:r>
                      <a:r>
                        <a:rPr lang="ko-KR" altLang="en-US" sz="2400" b="0" i="0" u="none" strike="noStrike" dirty="0">
                          <a:solidFill>
                            <a:srgbClr val="323232"/>
                          </a:solidFill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수정</a:t>
                      </a:r>
                      <a:endParaRPr lang="en-US" sz="2400" b="0" i="0" u="none" strike="noStrike" dirty="0">
                        <a:solidFill>
                          <a:srgbClr val="323232"/>
                        </a:solidFill>
                        <a:latin typeface="Pretendard Regular" panose="020B0600000101010101" charset="-127"/>
                        <a:ea typeface="Pretendard Regular" panose="020B0600000101010101" charset="-127"/>
                      </a:endParaRPr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83000"/>
                        </a:lnSpc>
                        <a:defRPr/>
                      </a:pPr>
                      <a:endParaRPr lang="en-US" sz="2400" dirty="0">
                        <a:latin typeface="Pretendard Regular" panose="020B0600000101010101" charset="-127"/>
                        <a:ea typeface="Pretendard Regular" panose="020B0600000101010101" charset="-127"/>
                      </a:endParaRPr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6756">
                <a:tc>
                  <a:txBody>
                    <a:bodyPr/>
                    <a:lstStyle/>
                    <a:p>
                      <a:pPr lvl="0" algn="ctr">
                        <a:lnSpc>
                          <a:spcPct val="83000"/>
                        </a:lnSpc>
                        <a:defRPr/>
                      </a:pPr>
                      <a:r>
                        <a:rPr lang="en-US" sz="2400" b="0" i="0" u="none" strike="noStrike" dirty="0">
                          <a:solidFill>
                            <a:srgbClr val="323232"/>
                          </a:solidFill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8</a:t>
                      </a:r>
                      <a:r>
                        <a:rPr lang="ko-KR" altLang="en-US" sz="2400" b="0" i="0" u="none" strike="noStrike" dirty="0">
                          <a:solidFill>
                            <a:srgbClr val="323232"/>
                          </a:solidFill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월 </a:t>
                      </a:r>
                      <a:r>
                        <a:rPr lang="en-US" altLang="ko-KR" sz="2400" b="0" i="0" u="none" strike="noStrike" dirty="0">
                          <a:solidFill>
                            <a:srgbClr val="323232"/>
                          </a:solidFill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3</a:t>
                      </a:r>
                      <a:r>
                        <a:rPr lang="ko-KR" altLang="en-US" sz="2400" b="0" i="0" u="none" strike="noStrike" dirty="0">
                          <a:solidFill>
                            <a:srgbClr val="323232"/>
                          </a:solidFill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주차</a:t>
                      </a:r>
                      <a:endParaRPr lang="en-US" sz="2400" dirty="0">
                        <a:latin typeface="Pretendard Regular" panose="020B0600000101010101" charset="-127"/>
                        <a:ea typeface="Pretendard Regular" panose="020B0600000101010101" charset="-127"/>
                      </a:endParaRPr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83000"/>
                        </a:lnSpc>
                        <a:defRPr/>
                      </a:pPr>
                      <a:r>
                        <a:rPr lang="ko-KR" altLang="en-US" sz="2400" b="0" i="0" u="none" strike="noStrike" dirty="0">
                          <a:solidFill>
                            <a:srgbClr val="323232"/>
                          </a:solidFill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아트 리소스에 맞춰서 </a:t>
                      </a:r>
                      <a:r>
                        <a:rPr lang="en-US" altLang="ko-KR" sz="2400" b="0" i="0" u="none" strike="noStrike" dirty="0">
                          <a:solidFill>
                            <a:srgbClr val="323232"/>
                          </a:solidFill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UI </a:t>
                      </a:r>
                      <a:r>
                        <a:rPr lang="ko-KR" altLang="en-US" sz="2400" b="0" i="0" u="none" strike="noStrike" dirty="0">
                          <a:solidFill>
                            <a:srgbClr val="323232"/>
                          </a:solidFill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수정</a:t>
                      </a:r>
                      <a:endParaRPr lang="en-US" altLang="ko-KR" sz="2400" b="0" i="0" u="none" strike="noStrike" dirty="0">
                        <a:solidFill>
                          <a:srgbClr val="323232"/>
                        </a:solidFill>
                        <a:latin typeface="Pretendard Regular" panose="020B0600000101010101" charset="-127"/>
                        <a:ea typeface="Pretendard Regular" panose="020B0600000101010101" charset="-127"/>
                      </a:endParaRPr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83000"/>
                        </a:lnSpc>
                        <a:defRPr/>
                      </a:pPr>
                      <a:endParaRPr lang="en-US" sz="2400" dirty="0">
                        <a:latin typeface="Pretendard Regular" panose="020B0600000101010101" charset="-127"/>
                        <a:ea typeface="Pretendard Regular" panose="020B0600000101010101" charset="-127"/>
                      </a:endParaRPr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57328">
                <a:tc>
                  <a:txBody>
                    <a:bodyPr/>
                    <a:lstStyle/>
                    <a:p>
                      <a:pPr lvl="0" algn="ctr">
                        <a:lnSpc>
                          <a:spcPct val="83000"/>
                        </a:lnSpc>
                        <a:defRPr/>
                      </a:pPr>
                      <a:r>
                        <a:rPr lang="en-US" sz="24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8</a:t>
                      </a:r>
                      <a:r>
                        <a:rPr lang="ko-KR" altLang="en-US" sz="24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월 </a:t>
                      </a:r>
                      <a:r>
                        <a:rPr lang="en-US" altLang="ko-KR" sz="24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4</a:t>
                      </a:r>
                      <a:r>
                        <a:rPr lang="ko-KR" altLang="en-US" sz="24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주차</a:t>
                      </a:r>
                      <a:endParaRPr lang="en-US" sz="2400" dirty="0">
                        <a:latin typeface="Pretendard Regular" panose="020B0600000101010101" charset="-127"/>
                        <a:ea typeface="Pretendard Regular" panose="020B0600000101010101" charset="-127"/>
                      </a:endParaRP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83000"/>
                        </a:lnSpc>
                        <a:defRPr/>
                      </a:pPr>
                      <a:r>
                        <a:rPr lang="ko-KR" altLang="en-US" sz="2400" b="0" i="0" u="none" strike="noStrike" dirty="0">
                          <a:solidFill>
                            <a:srgbClr val="323232"/>
                          </a:solidFill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튜토리얼 제작</a:t>
                      </a:r>
                      <a:r>
                        <a:rPr lang="en-US" altLang="ko-KR" sz="2400" b="0" i="0" u="none" strike="noStrike" dirty="0">
                          <a:solidFill>
                            <a:srgbClr val="323232"/>
                          </a:solidFill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, </a:t>
                      </a:r>
                      <a:r>
                        <a:rPr lang="ko-KR" altLang="en-US" sz="2400" b="0" i="0" u="none" strike="noStrike" dirty="0">
                          <a:solidFill>
                            <a:srgbClr val="323232"/>
                          </a:solidFill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게임 목표에 따른 엔딩 적용</a:t>
                      </a:r>
                      <a:r>
                        <a:rPr lang="en-US" altLang="ko-KR" sz="2400" b="0" i="0" u="none" strike="noStrike" dirty="0">
                          <a:solidFill>
                            <a:srgbClr val="323232"/>
                          </a:solidFill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, </a:t>
                      </a:r>
                      <a:r>
                        <a:rPr lang="ko-KR" altLang="en-US" sz="2400" b="0" i="0" u="none" strike="noStrike" dirty="0">
                          <a:solidFill>
                            <a:srgbClr val="323232"/>
                          </a:solidFill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아트 리소스 지속적으로 적용</a:t>
                      </a:r>
                      <a:endParaRPr lang="en-US" altLang="ko-KR" sz="2400" b="0" i="0" u="none" strike="noStrike" dirty="0">
                        <a:solidFill>
                          <a:srgbClr val="323232"/>
                        </a:solidFill>
                        <a:latin typeface="Pretendard Regular" panose="020B0600000101010101" charset="-127"/>
                        <a:ea typeface="Pretendard Regular" panose="020B0600000101010101" charset="-127"/>
                      </a:endParaRPr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83000"/>
                        </a:lnSpc>
                        <a:defRPr/>
                      </a:pPr>
                      <a:endParaRPr lang="en-US" sz="2400" dirty="0">
                        <a:latin typeface="Pretendard Regular" panose="020B0600000101010101" charset="-127"/>
                        <a:ea typeface="Pretendard Regular" panose="020B0600000101010101" charset="-127"/>
                      </a:endParaRPr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3464574"/>
                  </a:ext>
                </a:extLst>
              </a:tr>
              <a:tr h="757328">
                <a:tc>
                  <a:txBody>
                    <a:bodyPr/>
                    <a:lstStyle/>
                    <a:p>
                      <a:pPr lvl="0" algn="ctr">
                        <a:lnSpc>
                          <a:spcPct val="83000"/>
                        </a:lnSpc>
                        <a:defRPr/>
                      </a:pPr>
                      <a:r>
                        <a:rPr lang="ko-KR" altLang="en-US" sz="24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이후</a:t>
                      </a:r>
                      <a:endParaRPr lang="en-US" sz="2400" dirty="0">
                        <a:latin typeface="Pretendard Regular" panose="020B0600000101010101" charset="-127"/>
                        <a:ea typeface="Pretendard Regular" panose="020B0600000101010101" charset="-127"/>
                      </a:endParaRP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83000"/>
                        </a:lnSpc>
                        <a:defRPr/>
                      </a:pPr>
                      <a:r>
                        <a:rPr lang="ko-KR" altLang="en-US" sz="2400" b="0" i="0" u="none" strike="noStrike" dirty="0">
                          <a:solidFill>
                            <a:srgbClr val="323232"/>
                          </a:solidFill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동아리 내 공개 및 스팀이나 스토브 </a:t>
                      </a:r>
                      <a:r>
                        <a:rPr lang="ko-KR" altLang="en-US" sz="2400" b="0" i="0" u="none" strike="noStrike" dirty="0" err="1">
                          <a:solidFill>
                            <a:srgbClr val="323232"/>
                          </a:solidFill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인디</a:t>
                      </a:r>
                      <a:r>
                        <a:rPr lang="ko-KR" altLang="en-US" sz="2400" b="0" i="0" u="none" strike="noStrike" dirty="0">
                          <a:solidFill>
                            <a:srgbClr val="323232"/>
                          </a:solidFill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 출시 계획</a:t>
                      </a:r>
                      <a:endParaRPr lang="en-US" altLang="ko-KR" sz="2400" b="0" i="0" u="none" strike="noStrike" dirty="0">
                        <a:solidFill>
                          <a:srgbClr val="323232"/>
                        </a:solidFill>
                        <a:latin typeface="Pretendard Regular" panose="020B0600000101010101" charset="-127"/>
                        <a:ea typeface="Pretendard Regular" panose="020B0600000101010101" charset="-127"/>
                      </a:endParaRPr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83000"/>
                        </a:lnSpc>
                        <a:defRPr/>
                      </a:pPr>
                      <a:endParaRPr lang="en-US" sz="2400" dirty="0">
                        <a:latin typeface="Pretendard Regular" panose="020B0600000101010101" charset="-127"/>
                        <a:ea typeface="Pretendard Regular" panose="020B0600000101010101" charset="-127"/>
                      </a:endParaRPr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5789844"/>
                  </a:ext>
                </a:extLst>
              </a:tr>
            </a:tbl>
          </a:graphicData>
        </a:graphic>
      </p:graphicFrame>
      <p:sp>
        <p:nvSpPr>
          <p:cNvPr id="4" name="TextBox 4">
            <a:extLst>
              <a:ext uri="{FF2B5EF4-FFF2-40B4-BE49-F238E27FC236}">
                <a16:creationId xmlns:a16="http://schemas.microsoft.com/office/drawing/2014/main" id="{EBA0AC31-4AE0-87CD-48F5-2EC50C0D9ED0}"/>
              </a:ext>
            </a:extLst>
          </p:cNvPr>
          <p:cNvSpPr txBox="1"/>
          <p:nvPr/>
        </p:nvSpPr>
        <p:spPr>
          <a:xfrm>
            <a:off x="1346200" y="1308100"/>
            <a:ext cx="4457700" cy="1168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5449"/>
              </a:lnSpc>
            </a:pPr>
            <a:r>
              <a:rPr lang="ko-KR" altLang="en-US" sz="6500" dirty="0">
                <a:solidFill>
                  <a:srgbClr val="323232"/>
                </a:solidFill>
                <a:ea typeface="Pretendard SemiBold"/>
              </a:rPr>
              <a:t>개발 계획</a:t>
            </a:r>
            <a:endParaRPr lang="ko-KR" sz="6500" b="0" i="0" u="none" strike="noStrike" dirty="0">
              <a:solidFill>
                <a:srgbClr val="323232"/>
              </a:solidFill>
              <a:ea typeface="Pretendard SemiBold"/>
            </a:endParaRP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1452345F-06C4-3E98-89AB-1C6220D5D87A}"/>
              </a:ext>
            </a:extLst>
          </p:cNvPr>
          <p:cNvSpPr txBox="1"/>
          <p:nvPr/>
        </p:nvSpPr>
        <p:spPr>
          <a:xfrm>
            <a:off x="1346200" y="2514600"/>
            <a:ext cx="6337300" cy="419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5449"/>
              </a:lnSpc>
            </a:pPr>
            <a:r>
              <a:rPr lang="en-US" sz="2400" i="1" dirty="0">
                <a:solidFill>
                  <a:srgbClr val="323232"/>
                </a:solidFill>
                <a:latin typeface="Baskerville Old Face"/>
              </a:rPr>
              <a:t>Development Plan</a:t>
            </a:r>
            <a:endParaRPr lang="en-US" sz="2400" b="0" i="1" u="none" strike="noStrike" dirty="0">
              <a:solidFill>
                <a:srgbClr val="323232"/>
              </a:solidFill>
              <a:latin typeface="Baskerville Old Face"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9AE1FCF7-2770-153A-E32C-BDADAD04C450}"/>
              </a:ext>
            </a:extLst>
          </p:cNvPr>
          <p:cNvSpPr txBox="1"/>
          <p:nvPr/>
        </p:nvSpPr>
        <p:spPr>
          <a:xfrm>
            <a:off x="4864100" y="2400300"/>
            <a:ext cx="12001500" cy="520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16199"/>
              </a:lnSpc>
            </a:pPr>
            <a:r>
              <a:rPr lang="ko-KR" altLang="en-US" sz="3000" b="0" i="0" u="none" strike="noStrike" dirty="0">
                <a:solidFill>
                  <a:srgbClr val="000000"/>
                </a:solidFill>
                <a:latin typeface="Pretendard SemiBold" panose="02000703000000020004" charset="-127"/>
                <a:ea typeface="Pretendard SemiBold" panose="02000703000000020004" charset="-127"/>
              </a:rPr>
              <a:t>여름방학 내에 대부분의 개발을 완료하는 것이 목표입니다</a:t>
            </a:r>
            <a:r>
              <a:rPr lang="en-US" altLang="ko-KR" sz="3000" b="0" i="0" u="none" strike="noStrike" dirty="0">
                <a:solidFill>
                  <a:srgbClr val="000000"/>
                </a:solidFill>
                <a:latin typeface="Pretendard SemiBold" panose="02000703000000020004" charset="-127"/>
                <a:ea typeface="Pretendard SemiBold" panose="02000703000000020004" charset="-127"/>
              </a:rPr>
              <a:t>.</a:t>
            </a:r>
            <a:endParaRPr lang="en-US" sz="3000" b="0" i="0" u="none" strike="noStrike" dirty="0">
              <a:solidFill>
                <a:srgbClr val="000000"/>
              </a:solidFill>
              <a:latin typeface="Pretendard SemiBold" panose="02000703000000020004" charset="-127"/>
              <a:ea typeface="Pretendard SemiBold" panose="02000703000000020004" charset="-127"/>
            </a:endParaRPr>
          </a:p>
        </p:txBody>
      </p:sp>
      <p:sp>
        <p:nvSpPr>
          <p:cNvPr id="8" name="슬라이드 번호 개체 틀 3">
            <a:extLst>
              <a:ext uri="{FF2B5EF4-FFF2-40B4-BE49-F238E27FC236}">
                <a16:creationId xmlns:a16="http://schemas.microsoft.com/office/drawing/2014/main" id="{762439E6-FD24-4992-D07B-A9DA622B6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925800" y="9728200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117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5400" y="2374900"/>
            <a:ext cx="13373100" cy="13373100"/>
          </a:xfrm>
          <a:prstGeom prst="rect">
            <a:avLst/>
          </a:prstGeom>
        </p:spPr>
      </p:pic>
      <p:grpSp>
        <p:nvGrpSpPr>
          <p:cNvPr id="3" name="Group 3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4813300"/>
            <a:ext cx="381000" cy="3810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-76200" y="6642100"/>
            <a:ext cx="3289300" cy="38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47800" y="6210300"/>
            <a:ext cx="241300" cy="2413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47800" y="7175500"/>
            <a:ext cx="241300" cy="2413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47800" y="8178800"/>
            <a:ext cx="241300" cy="2413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1346200" y="1308100"/>
            <a:ext cx="4457700" cy="1168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5449"/>
              </a:lnSpc>
            </a:pPr>
            <a:r>
              <a:rPr lang="ko-KR" altLang="en-US" sz="6500" b="0" i="0" u="none" strike="noStrike" dirty="0">
                <a:solidFill>
                  <a:srgbClr val="323232"/>
                </a:solidFill>
                <a:ea typeface="Pretendard SemiBold"/>
              </a:rPr>
              <a:t>팀원 </a:t>
            </a:r>
            <a:r>
              <a:rPr lang="ko-KR" altLang="en-US" sz="6500" dirty="0">
                <a:solidFill>
                  <a:srgbClr val="323232"/>
                </a:solidFill>
                <a:ea typeface="Pretendard SemiBold"/>
              </a:rPr>
              <a:t>모집</a:t>
            </a:r>
            <a:endParaRPr lang="ko-KR" sz="6500" b="0" i="0" u="none" strike="noStrike" dirty="0">
              <a:solidFill>
                <a:srgbClr val="323232"/>
              </a:solidFill>
              <a:ea typeface="Pretendard Semi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346200" y="2514600"/>
            <a:ext cx="6337300" cy="419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5449"/>
              </a:lnSpc>
            </a:pPr>
            <a:r>
              <a:rPr lang="en-US" sz="2400" b="0" i="1" u="none" strike="noStrike" dirty="0">
                <a:solidFill>
                  <a:srgbClr val="323232"/>
                </a:solidFill>
                <a:latin typeface="Baskerville Old Face"/>
              </a:rPr>
              <a:t>Recruit</a:t>
            </a:r>
            <a:r>
              <a:rPr lang="en-US" sz="2400" i="1" dirty="0">
                <a:solidFill>
                  <a:srgbClr val="323232"/>
                </a:solidFill>
                <a:latin typeface="Baskerville Old Face"/>
              </a:rPr>
              <a:t>ment</a:t>
            </a:r>
            <a:endParaRPr lang="en-US" sz="2400" b="0" i="1" u="none" strike="noStrike" dirty="0">
              <a:solidFill>
                <a:srgbClr val="323232"/>
              </a:solidFill>
              <a:latin typeface="Baskerville Old Face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2006600" y="4635500"/>
            <a:ext cx="7988300" cy="711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5449"/>
              </a:lnSpc>
            </a:pPr>
            <a:r>
              <a:rPr lang="ko-KR" altLang="en-US" sz="4000" b="0" i="0" u="none" strike="noStrike" dirty="0">
                <a:solidFill>
                  <a:srgbClr val="323232"/>
                </a:solidFill>
                <a:ea typeface="Pretendard SemiBold"/>
              </a:rPr>
              <a:t>프로그래밍 및 아트 팀원 모집합니다</a:t>
            </a:r>
            <a:r>
              <a:rPr lang="en-US" altLang="ko-KR" sz="4000" dirty="0">
                <a:solidFill>
                  <a:srgbClr val="323232"/>
                </a:solidFill>
                <a:ea typeface="Pretendard SemiBold"/>
              </a:rPr>
              <a:t>.</a:t>
            </a:r>
            <a:endParaRPr lang="en-US" sz="4000" b="0" i="0" u="none" strike="noStrike" dirty="0">
              <a:solidFill>
                <a:srgbClr val="323232"/>
              </a:solidFill>
              <a:latin typeface="Pretendard Semi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2006599" y="6057900"/>
            <a:ext cx="15385355" cy="584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5449"/>
              </a:lnSpc>
            </a:pPr>
            <a:r>
              <a:rPr lang="ko-KR" altLang="en-US" sz="2400" b="0" i="0" u="none" strike="noStrike" dirty="0">
                <a:solidFill>
                  <a:srgbClr val="32323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현재 팀은 </a:t>
            </a:r>
            <a:r>
              <a:rPr lang="ko-KR" altLang="en-US" sz="2400" dirty="0">
                <a:solidFill>
                  <a:srgbClr val="32323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디자인 </a:t>
            </a:r>
            <a:r>
              <a:rPr lang="en-US" altLang="ko-KR" sz="2400" dirty="0">
                <a:solidFill>
                  <a:srgbClr val="32323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1</a:t>
            </a:r>
            <a:r>
              <a:rPr lang="ko-KR" altLang="en-US" sz="2400" dirty="0">
                <a:solidFill>
                  <a:srgbClr val="32323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명</a:t>
            </a:r>
            <a:r>
              <a:rPr lang="en-US" altLang="ko-KR" sz="2400" dirty="0">
                <a:solidFill>
                  <a:srgbClr val="32323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2400" dirty="0">
                <a:solidFill>
                  <a:srgbClr val="32323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프로그래밍 </a:t>
            </a:r>
            <a:r>
              <a:rPr lang="en-US" altLang="ko-KR" sz="2400" dirty="0">
                <a:solidFill>
                  <a:srgbClr val="32323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1</a:t>
            </a:r>
            <a:r>
              <a:rPr lang="ko-KR" altLang="en-US" sz="2400" dirty="0">
                <a:solidFill>
                  <a:srgbClr val="32323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명으로 구성되어 있기 때문에</a:t>
            </a:r>
            <a:r>
              <a:rPr lang="en-US" altLang="ko-KR" sz="2400" dirty="0">
                <a:solidFill>
                  <a:srgbClr val="32323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2400" dirty="0">
                <a:solidFill>
                  <a:srgbClr val="32323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아트 팀원이 무조건적으로 필요합니다</a:t>
            </a:r>
            <a:r>
              <a:rPr lang="en-US" altLang="ko-KR" sz="2400" dirty="0">
                <a:solidFill>
                  <a:srgbClr val="32323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.</a:t>
            </a:r>
            <a:endParaRPr lang="en-US" sz="2400" b="0" i="0" u="none" strike="noStrike" dirty="0">
              <a:solidFill>
                <a:srgbClr val="323232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2006600" y="7048500"/>
            <a:ext cx="15519400" cy="584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5449"/>
              </a:lnSpc>
            </a:pPr>
            <a:r>
              <a:rPr lang="ko-KR" altLang="en-US" sz="2400" b="0" i="0" u="none" strike="noStrike" dirty="0">
                <a:solidFill>
                  <a:srgbClr val="32323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프로그래밍인 제가 디자인에 많은 관여를 하고 있는 상태라</a:t>
            </a:r>
            <a:r>
              <a:rPr lang="en-US" altLang="ko-KR" sz="2400" b="0" i="0" u="none" strike="noStrike" dirty="0">
                <a:solidFill>
                  <a:srgbClr val="32323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2400">
                <a:solidFill>
                  <a:srgbClr val="32323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관련해서 구현 </a:t>
            </a:r>
            <a:r>
              <a:rPr lang="ko-KR" altLang="en-US" sz="2400" dirty="0">
                <a:solidFill>
                  <a:srgbClr val="32323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업무를 분담하실 프로그래밍 한 분을 모십니다</a:t>
            </a:r>
            <a:r>
              <a:rPr lang="en-US" altLang="ko-KR" sz="2400" dirty="0">
                <a:solidFill>
                  <a:srgbClr val="32323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!</a:t>
            </a:r>
            <a:endParaRPr lang="en-US" sz="2400" b="0" i="0" u="none" strike="noStrike" dirty="0">
              <a:solidFill>
                <a:srgbClr val="323232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2006600" y="8051800"/>
            <a:ext cx="15519400" cy="584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5449"/>
              </a:lnSpc>
            </a:pPr>
            <a:r>
              <a:rPr lang="en-US" sz="2400" b="0" i="0" u="none" strike="noStrike" dirty="0">
                <a:solidFill>
                  <a:srgbClr val="32323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2D </a:t>
            </a:r>
            <a:r>
              <a:rPr lang="ko-KR" altLang="en-US" sz="2400" dirty="0">
                <a:solidFill>
                  <a:srgbClr val="32323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사물이나 음식 리소스 제작에 거부감이 없고</a:t>
            </a:r>
            <a:r>
              <a:rPr lang="en-US" altLang="ko-KR" sz="2400" dirty="0">
                <a:solidFill>
                  <a:srgbClr val="32323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2400" dirty="0" err="1">
                <a:solidFill>
                  <a:srgbClr val="32323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타이쿤</a:t>
            </a:r>
            <a:r>
              <a:rPr lang="ko-KR" altLang="en-US" sz="2400" dirty="0">
                <a:solidFill>
                  <a:srgbClr val="32323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장르에 관심이 있으신 아트 분을 모십니다</a:t>
            </a:r>
            <a:r>
              <a:rPr lang="en-US" altLang="ko-KR" sz="2400" dirty="0">
                <a:solidFill>
                  <a:srgbClr val="32323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!</a:t>
            </a:r>
            <a:endParaRPr lang="en-US" sz="2400" b="0" i="0" u="none" strike="noStrike" dirty="0">
              <a:solidFill>
                <a:srgbClr val="323232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6" name="슬라이드 번호 개체 틀 3">
            <a:extLst>
              <a:ext uri="{FF2B5EF4-FFF2-40B4-BE49-F238E27FC236}">
                <a16:creationId xmlns:a16="http://schemas.microsoft.com/office/drawing/2014/main" id="{0B00FBE9-D68B-C2AC-A082-A6AF2FD62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925800" y="9728200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D1E18A-2562-1099-8182-BD23B3132D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766C77D4-277F-062D-05DB-E01E4A6BD2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5400" y="2374900"/>
            <a:ext cx="13373100" cy="13373100"/>
          </a:xfrm>
          <a:prstGeom prst="rect">
            <a:avLst/>
          </a:prstGeom>
        </p:spPr>
      </p:pic>
      <p:grpSp>
        <p:nvGrpSpPr>
          <p:cNvPr id="3" name="Group 3">
            <a:extLst>
              <a:ext uri="{FF2B5EF4-FFF2-40B4-BE49-F238E27FC236}">
                <a16:creationId xmlns:a16="http://schemas.microsoft.com/office/drawing/2014/main" id="{062B95C6-0B1D-314E-F3CC-3A19A6290BCA}"/>
              </a:ext>
            </a:extLst>
          </p:cNvPr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9" name="TextBox 9">
            <a:extLst>
              <a:ext uri="{FF2B5EF4-FFF2-40B4-BE49-F238E27FC236}">
                <a16:creationId xmlns:a16="http://schemas.microsoft.com/office/drawing/2014/main" id="{CC180142-E4A1-6A9C-1279-9FF2165D7209}"/>
              </a:ext>
            </a:extLst>
          </p:cNvPr>
          <p:cNvSpPr txBox="1"/>
          <p:nvPr/>
        </p:nvSpPr>
        <p:spPr>
          <a:xfrm>
            <a:off x="1346200" y="1308100"/>
            <a:ext cx="4457700" cy="1168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5449"/>
              </a:lnSpc>
            </a:pPr>
            <a:r>
              <a:rPr lang="ko-KR" altLang="en-US" sz="6500" b="0" i="0" u="none" strike="noStrike" dirty="0">
                <a:solidFill>
                  <a:srgbClr val="323232"/>
                </a:solidFill>
                <a:ea typeface="Pretendard SemiBold"/>
              </a:rPr>
              <a:t>팀원 </a:t>
            </a:r>
            <a:r>
              <a:rPr lang="ko-KR" altLang="en-US" sz="6500" dirty="0">
                <a:solidFill>
                  <a:srgbClr val="323232"/>
                </a:solidFill>
                <a:ea typeface="Pretendard SemiBold"/>
              </a:rPr>
              <a:t>모집</a:t>
            </a:r>
            <a:endParaRPr lang="ko-KR" sz="6500" b="0" i="0" u="none" strike="noStrike" dirty="0">
              <a:solidFill>
                <a:srgbClr val="323232"/>
              </a:solidFill>
              <a:ea typeface="Pretendard SemiBold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4B35790C-D57E-F34D-F54E-019F6C01DC13}"/>
              </a:ext>
            </a:extLst>
          </p:cNvPr>
          <p:cNvSpPr txBox="1"/>
          <p:nvPr/>
        </p:nvSpPr>
        <p:spPr>
          <a:xfrm>
            <a:off x="1346200" y="2514600"/>
            <a:ext cx="6337300" cy="419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5449"/>
              </a:lnSpc>
            </a:pPr>
            <a:r>
              <a:rPr lang="en-US" sz="2400" b="0" i="1" u="none" strike="noStrike" dirty="0">
                <a:solidFill>
                  <a:srgbClr val="323232"/>
                </a:solidFill>
                <a:latin typeface="Baskerville Old Face"/>
              </a:rPr>
              <a:t>Recruit</a:t>
            </a:r>
            <a:r>
              <a:rPr lang="en-US" sz="2400" i="1" dirty="0">
                <a:solidFill>
                  <a:srgbClr val="323232"/>
                </a:solidFill>
                <a:latin typeface="Baskerville Old Face"/>
              </a:rPr>
              <a:t>ment</a:t>
            </a:r>
            <a:endParaRPr lang="en-US" sz="2400" b="0" i="1" u="none" strike="noStrike" dirty="0">
              <a:solidFill>
                <a:srgbClr val="323232"/>
              </a:solidFill>
              <a:latin typeface="Baskerville Old Face"/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BAD22F56-41FF-7BF7-393A-5AC60B426922}"/>
              </a:ext>
            </a:extLst>
          </p:cNvPr>
          <p:cNvSpPr/>
          <p:nvPr/>
        </p:nvSpPr>
        <p:spPr>
          <a:xfrm>
            <a:off x="1193800" y="3600450"/>
            <a:ext cx="7620000" cy="5283200"/>
          </a:xfrm>
          <a:prstGeom prst="roundRect">
            <a:avLst>
              <a:gd name="adj" fmla="val 3273"/>
            </a:avLst>
          </a:prstGeom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9C802617-802B-984A-720F-677985DE0EF3}"/>
              </a:ext>
            </a:extLst>
          </p:cNvPr>
          <p:cNvSpPr/>
          <p:nvPr/>
        </p:nvSpPr>
        <p:spPr>
          <a:xfrm>
            <a:off x="9601200" y="3600450"/>
            <a:ext cx="7620000" cy="5283200"/>
          </a:xfrm>
          <a:prstGeom prst="roundRect">
            <a:avLst>
              <a:gd name="adj" fmla="val 3273"/>
            </a:avLst>
          </a:prstGeom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D722E1F6-11FA-EF22-70A8-03045FD5C57F}"/>
              </a:ext>
            </a:extLst>
          </p:cNvPr>
          <p:cNvGrpSpPr/>
          <p:nvPr/>
        </p:nvGrpSpPr>
        <p:grpSpPr>
          <a:xfrm>
            <a:off x="3657600" y="3244850"/>
            <a:ext cx="2692400" cy="711200"/>
            <a:chOff x="3683000" y="3311525"/>
            <a:chExt cx="2692400" cy="711200"/>
          </a:xfrm>
        </p:grpSpPr>
        <p:sp>
          <p:nvSpPr>
            <p:cNvPr id="19" name="사각형: 둥근 모서리 18">
              <a:extLst>
                <a:ext uri="{FF2B5EF4-FFF2-40B4-BE49-F238E27FC236}">
                  <a16:creationId xmlns:a16="http://schemas.microsoft.com/office/drawing/2014/main" id="{60E474DA-E188-0686-293E-AA23A6A9F75A}"/>
                </a:ext>
              </a:extLst>
            </p:cNvPr>
            <p:cNvSpPr/>
            <p:nvPr/>
          </p:nvSpPr>
          <p:spPr>
            <a:xfrm>
              <a:off x="3683000" y="3311525"/>
              <a:ext cx="2692400" cy="711200"/>
            </a:xfrm>
            <a:prstGeom prst="roundRect">
              <a:avLst>
                <a:gd name="adj" fmla="val 26650"/>
              </a:avLst>
            </a:prstGeom>
            <a:solidFill>
              <a:schemeClr val="bg1">
                <a:lumMod val="85000"/>
              </a:schemeClr>
            </a:solidFill>
            <a:ln w="571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TextBox 11">
              <a:extLst>
                <a:ext uri="{FF2B5EF4-FFF2-40B4-BE49-F238E27FC236}">
                  <a16:creationId xmlns:a16="http://schemas.microsoft.com/office/drawing/2014/main" id="{39A9FA23-0865-6EDF-BF08-FF54DB8E6C6F}"/>
                </a:ext>
              </a:extLst>
            </p:cNvPr>
            <p:cNvSpPr txBox="1"/>
            <p:nvPr/>
          </p:nvSpPr>
          <p:spPr>
            <a:xfrm>
              <a:off x="3968750" y="3311525"/>
              <a:ext cx="2120900" cy="711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5449"/>
                </a:lnSpc>
              </a:pPr>
              <a:r>
                <a:rPr lang="ko-KR" altLang="en-US" sz="3200" b="0" i="0" u="none" strike="noStrike" dirty="0">
                  <a:solidFill>
                    <a:srgbClr val="323232"/>
                  </a:solidFill>
                  <a:latin typeface="Pretendard SemiBold"/>
                  <a:ea typeface="Pretendard SemiBold"/>
                </a:rPr>
                <a:t>프로그래밍</a:t>
              </a:r>
              <a:endParaRPr lang="en-US" sz="3200" b="0" i="0" u="none" strike="noStrike" dirty="0">
                <a:solidFill>
                  <a:srgbClr val="323232"/>
                </a:solidFill>
                <a:latin typeface="Pretendard SemiBold"/>
              </a:endParaRP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BFF23F3D-BBC7-923B-2169-B47FD4278439}"/>
              </a:ext>
            </a:extLst>
          </p:cNvPr>
          <p:cNvGrpSpPr/>
          <p:nvPr/>
        </p:nvGrpSpPr>
        <p:grpSpPr>
          <a:xfrm>
            <a:off x="12065000" y="3244850"/>
            <a:ext cx="2692400" cy="711200"/>
            <a:chOff x="3683000" y="3311525"/>
            <a:chExt cx="2692400" cy="711200"/>
          </a:xfrm>
        </p:grpSpPr>
        <p:sp>
          <p:nvSpPr>
            <p:cNvPr id="22" name="사각형: 둥근 모서리 21">
              <a:extLst>
                <a:ext uri="{FF2B5EF4-FFF2-40B4-BE49-F238E27FC236}">
                  <a16:creationId xmlns:a16="http://schemas.microsoft.com/office/drawing/2014/main" id="{621174A5-C1A7-B9E1-38BD-3D61AD260A95}"/>
                </a:ext>
              </a:extLst>
            </p:cNvPr>
            <p:cNvSpPr/>
            <p:nvPr/>
          </p:nvSpPr>
          <p:spPr>
            <a:xfrm>
              <a:off x="3683000" y="3311525"/>
              <a:ext cx="2692400" cy="711200"/>
            </a:xfrm>
            <a:prstGeom prst="roundRect">
              <a:avLst>
                <a:gd name="adj" fmla="val 26650"/>
              </a:avLst>
            </a:prstGeom>
            <a:solidFill>
              <a:schemeClr val="bg1">
                <a:lumMod val="85000"/>
              </a:schemeClr>
            </a:solidFill>
            <a:ln w="571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TextBox 11">
              <a:extLst>
                <a:ext uri="{FF2B5EF4-FFF2-40B4-BE49-F238E27FC236}">
                  <a16:creationId xmlns:a16="http://schemas.microsoft.com/office/drawing/2014/main" id="{A5E92577-E9C7-AC25-59E8-46BB9080E697}"/>
                </a:ext>
              </a:extLst>
            </p:cNvPr>
            <p:cNvSpPr txBox="1"/>
            <p:nvPr/>
          </p:nvSpPr>
          <p:spPr>
            <a:xfrm>
              <a:off x="3968750" y="3311525"/>
              <a:ext cx="2120900" cy="711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5449"/>
                </a:lnSpc>
              </a:pPr>
              <a:r>
                <a:rPr lang="ko-KR" altLang="en-US" sz="3200" dirty="0">
                  <a:solidFill>
                    <a:srgbClr val="323232"/>
                  </a:solidFill>
                  <a:latin typeface="Pretendard SemiBold"/>
                  <a:ea typeface="Pretendard SemiBold"/>
                </a:rPr>
                <a:t>아트</a:t>
              </a:r>
              <a:endParaRPr lang="en-US" sz="3200" b="0" i="0" u="none" strike="noStrike" dirty="0">
                <a:solidFill>
                  <a:srgbClr val="323232"/>
                </a:solidFill>
                <a:latin typeface="Pretendard SemiBold"/>
              </a:endParaRPr>
            </a:p>
          </p:txBody>
        </p:sp>
      </p:grpSp>
      <p:sp>
        <p:nvSpPr>
          <p:cNvPr id="24" name="TextBox 3">
            <a:extLst>
              <a:ext uri="{FF2B5EF4-FFF2-40B4-BE49-F238E27FC236}">
                <a16:creationId xmlns:a16="http://schemas.microsoft.com/office/drawing/2014/main" id="{344FBBD0-3AD9-05DB-AED9-71F6BB6C510D}"/>
              </a:ext>
            </a:extLst>
          </p:cNvPr>
          <p:cNvSpPr txBox="1"/>
          <p:nvPr/>
        </p:nvSpPr>
        <p:spPr>
          <a:xfrm>
            <a:off x="1574800" y="4078287"/>
            <a:ext cx="6858000" cy="4418013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571500" lvl="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800" dirty="0">
                <a:solidFill>
                  <a:srgbClr val="323232"/>
                </a:solidFill>
                <a:latin typeface="Pretendard Regular" panose="020B0600000101010101" charset="-127"/>
                <a:ea typeface="Pretendard Regular" panose="020B0600000101010101" charset="-127"/>
                <a:cs typeface="Pretendard Medium" panose="02000603000000020004" pitchFamily="50" charset="-127"/>
              </a:rPr>
              <a:t>아트 리소스 적용으로 발생하는 추가 작업</a:t>
            </a:r>
            <a:endParaRPr lang="en-US" altLang="ko-KR" sz="2800" dirty="0">
              <a:solidFill>
                <a:srgbClr val="323232"/>
              </a:solidFill>
              <a:latin typeface="Pretendard Regular" panose="020B0600000101010101" charset="-127"/>
              <a:ea typeface="Pretendard Regular" panose="020B0600000101010101" charset="-127"/>
              <a:cs typeface="Pretendard Medium" panose="02000603000000020004" pitchFamily="50" charset="-127"/>
            </a:endParaRPr>
          </a:p>
          <a:p>
            <a:pPr marL="571500" lvl="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800" dirty="0">
                <a:solidFill>
                  <a:srgbClr val="323232"/>
                </a:solidFill>
                <a:latin typeface="Pretendard Regular" panose="020B0600000101010101" charset="-127"/>
                <a:ea typeface="Pretendard Regular" panose="020B0600000101010101" charset="-127"/>
                <a:cs typeface="Pretendard Medium" panose="02000603000000020004" pitchFamily="50" charset="-127"/>
              </a:rPr>
              <a:t>튜토리얼 구현</a:t>
            </a:r>
            <a:endParaRPr lang="en-US" altLang="ko-KR" sz="2800" dirty="0">
              <a:solidFill>
                <a:srgbClr val="323232"/>
              </a:solidFill>
              <a:latin typeface="Pretendard Regular" panose="020B0600000101010101" charset="-127"/>
              <a:ea typeface="Pretendard Regular" panose="020B0600000101010101" charset="-127"/>
              <a:cs typeface="Pretendard Medium" panose="02000603000000020004" pitchFamily="50" charset="-127"/>
            </a:endParaRPr>
          </a:p>
          <a:p>
            <a:pPr marL="571500" lvl="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800" dirty="0">
                <a:solidFill>
                  <a:srgbClr val="323232"/>
                </a:solidFill>
                <a:latin typeface="Pretendard Regular" panose="020B0600000101010101" charset="-127"/>
                <a:ea typeface="Pretendard Regular" panose="020B0600000101010101" charset="-127"/>
                <a:cs typeface="Pretendard Medium" panose="02000603000000020004" pitchFamily="50" charset="-127"/>
              </a:rPr>
              <a:t>이외의 버그 및 수정 사항</a:t>
            </a:r>
            <a:endParaRPr lang="en-US" altLang="ko-KR" sz="2800" dirty="0">
              <a:solidFill>
                <a:srgbClr val="323232"/>
              </a:solidFill>
              <a:latin typeface="Pretendard Regular" panose="020B0600000101010101" charset="-127"/>
              <a:ea typeface="Pretendard Regular" panose="020B0600000101010101" charset="-127"/>
              <a:cs typeface="Pretendard Medium" panose="02000603000000020004" pitchFamily="50" charset="-127"/>
            </a:endParaRPr>
          </a:p>
        </p:txBody>
      </p:sp>
      <p:sp>
        <p:nvSpPr>
          <p:cNvPr id="25" name="TextBox 3">
            <a:extLst>
              <a:ext uri="{FF2B5EF4-FFF2-40B4-BE49-F238E27FC236}">
                <a16:creationId xmlns:a16="http://schemas.microsoft.com/office/drawing/2014/main" id="{A64D3F9D-400C-10B7-E52D-A44158A59EAE}"/>
              </a:ext>
            </a:extLst>
          </p:cNvPr>
          <p:cNvSpPr txBox="1"/>
          <p:nvPr/>
        </p:nvSpPr>
        <p:spPr>
          <a:xfrm>
            <a:off x="10013950" y="4078287"/>
            <a:ext cx="6858000" cy="4418013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571500" lvl="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800" dirty="0">
                <a:solidFill>
                  <a:srgbClr val="323232"/>
                </a:solidFill>
                <a:latin typeface="Pretendard Regular" panose="020B0600000101010101" charset="-127"/>
                <a:ea typeface="Pretendard Regular" panose="020B0600000101010101" charset="-127"/>
                <a:cs typeface="Pretendard Medium" panose="02000603000000020004" pitchFamily="50" charset="-127"/>
              </a:rPr>
              <a:t>식당의 조리 구역</a:t>
            </a:r>
            <a:r>
              <a:rPr lang="en-US" altLang="ko-KR" sz="2800" dirty="0">
                <a:solidFill>
                  <a:srgbClr val="323232"/>
                </a:solidFill>
                <a:latin typeface="Pretendard Regular" panose="020B0600000101010101" charset="-127"/>
                <a:ea typeface="Pretendard Regular" panose="020B0600000101010101" charset="-127"/>
                <a:cs typeface="Pretendard Medium" panose="02000603000000020004" pitchFamily="50" charset="-127"/>
              </a:rPr>
              <a:t> </a:t>
            </a:r>
            <a:r>
              <a:rPr lang="ko-KR" altLang="en-US" sz="2800" dirty="0">
                <a:solidFill>
                  <a:srgbClr val="323232"/>
                </a:solidFill>
                <a:latin typeface="Pretendard Regular" panose="020B0600000101010101" charset="-127"/>
                <a:ea typeface="Pretendard Regular" panose="020B0600000101010101" charset="-127"/>
                <a:cs typeface="Pretendard Medium" panose="02000603000000020004" pitchFamily="50" charset="-127"/>
              </a:rPr>
              <a:t>배경</a:t>
            </a:r>
            <a:endParaRPr lang="en-US" altLang="ko-KR" sz="2800" dirty="0">
              <a:solidFill>
                <a:srgbClr val="323232"/>
              </a:solidFill>
              <a:latin typeface="Pretendard Regular" panose="020B0600000101010101" charset="-127"/>
              <a:ea typeface="Pretendard Regular" panose="020B0600000101010101" charset="-127"/>
              <a:cs typeface="Pretendard Medium" panose="02000603000000020004" pitchFamily="50" charset="-127"/>
            </a:endParaRPr>
          </a:p>
          <a:p>
            <a:pPr marL="571500" lvl="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800" dirty="0">
                <a:solidFill>
                  <a:srgbClr val="323232"/>
                </a:solidFill>
                <a:latin typeface="Pretendard Regular" panose="020B0600000101010101" charset="-127"/>
                <a:ea typeface="Pretendard Regular" panose="020B0600000101010101" charset="-127"/>
                <a:cs typeface="Pretendard Medium" panose="02000603000000020004" pitchFamily="50" charset="-127"/>
              </a:rPr>
              <a:t>재료와 완성된 메뉴 오브젝트 리소스</a:t>
            </a:r>
            <a:endParaRPr lang="en-US" altLang="ko-KR" sz="2800" dirty="0">
              <a:solidFill>
                <a:srgbClr val="323232"/>
              </a:solidFill>
              <a:latin typeface="Pretendard Regular" panose="020B0600000101010101" charset="-127"/>
              <a:ea typeface="Pretendard Regular" panose="020B0600000101010101" charset="-127"/>
              <a:cs typeface="Pretendard Medium" panose="02000603000000020004" pitchFamily="50" charset="-127"/>
            </a:endParaRPr>
          </a:p>
          <a:p>
            <a:pPr marL="571500" lvl="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800" dirty="0">
                <a:solidFill>
                  <a:srgbClr val="323232"/>
                </a:solidFill>
                <a:latin typeface="Pretendard Regular" panose="020B0600000101010101" charset="-127"/>
                <a:ea typeface="Pretendard Regular" panose="020B0600000101010101" charset="-127"/>
                <a:cs typeface="Pretendard Medium" panose="02000603000000020004" pitchFamily="50" charset="-127"/>
              </a:rPr>
              <a:t>게임 시작 화면 및 로고</a:t>
            </a:r>
            <a:endParaRPr lang="en-US" altLang="ko-KR" sz="2800" dirty="0">
              <a:solidFill>
                <a:srgbClr val="323232"/>
              </a:solidFill>
              <a:latin typeface="Pretendard Regular" panose="020B0600000101010101" charset="-127"/>
              <a:ea typeface="Pretendard Regular" panose="020B0600000101010101" charset="-127"/>
              <a:cs typeface="Pretendard Medium" panose="02000603000000020004" pitchFamily="50" charset="-127"/>
            </a:endParaRPr>
          </a:p>
          <a:p>
            <a:pPr marL="571500" lvl="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800" dirty="0">
                <a:solidFill>
                  <a:srgbClr val="323232"/>
                </a:solidFill>
                <a:latin typeface="Pretendard Regular" panose="020B0600000101010101" charset="-127"/>
                <a:ea typeface="Pretendard Regular" panose="020B0600000101010101" charset="-127"/>
                <a:cs typeface="Pretendard Medium" panose="02000603000000020004" pitchFamily="50" charset="-127"/>
              </a:rPr>
              <a:t>UI </a:t>
            </a:r>
            <a:r>
              <a:rPr lang="ko-KR" altLang="en-US" sz="2800" dirty="0">
                <a:solidFill>
                  <a:srgbClr val="323232"/>
                </a:solidFill>
                <a:latin typeface="Pretendard Regular" panose="020B0600000101010101" charset="-127"/>
                <a:ea typeface="Pretendard Regular" panose="020B0600000101010101" charset="-127"/>
                <a:cs typeface="Pretendard Medium" panose="02000603000000020004" pitchFamily="50" charset="-127"/>
              </a:rPr>
              <a:t>리소스 </a:t>
            </a:r>
            <a:r>
              <a:rPr lang="en-US" altLang="ko-KR" sz="2800" dirty="0">
                <a:solidFill>
                  <a:srgbClr val="323232"/>
                </a:solidFill>
                <a:latin typeface="Pretendard Regular" panose="020B0600000101010101" charset="-127"/>
                <a:ea typeface="Pretendard Regular" panose="020B0600000101010101" charset="-127"/>
                <a:cs typeface="Pretendard Medium" panose="02000603000000020004" pitchFamily="50" charset="-127"/>
              </a:rPr>
              <a:t>(</a:t>
            </a:r>
            <a:r>
              <a:rPr lang="ko-KR" altLang="en-US" sz="2800" dirty="0">
                <a:solidFill>
                  <a:srgbClr val="323232"/>
                </a:solidFill>
                <a:latin typeface="Pretendard Regular" panose="020B0600000101010101" charset="-127"/>
                <a:ea typeface="Pretendard Regular" panose="020B0600000101010101" charset="-127"/>
                <a:cs typeface="Pretendard Medium" panose="02000603000000020004" pitchFamily="50" charset="-127"/>
              </a:rPr>
              <a:t>이 부분은 </a:t>
            </a:r>
            <a:r>
              <a:rPr lang="ko-KR" altLang="en-US" sz="2800" dirty="0" err="1">
                <a:solidFill>
                  <a:srgbClr val="323232"/>
                </a:solidFill>
                <a:latin typeface="Pretendard Regular" panose="020B0600000101010101" charset="-127"/>
                <a:ea typeface="Pretendard Regular" panose="020B0600000101010101" charset="-127"/>
                <a:cs typeface="Pretendard Medium" panose="02000603000000020004" pitchFamily="50" charset="-127"/>
              </a:rPr>
              <a:t>에셋으로</a:t>
            </a:r>
            <a:r>
              <a:rPr lang="ko-KR" altLang="en-US" sz="2800" dirty="0">
                <a:solidFill>
                  <a:srgbClr val="323232"/>
                </a:solidFill>
                <a:latin typeface="Pretendard Regular" panose="020B0600000101010101" charset="-127"/>
                <a:ea typeface="Pretendard Regular" panose="020B0600000101010101" charset="-127"/>
                <a:cs typeface="Pretendard Medium" panose="02000603000000020004" pitchFamily="50" charset="-127"/>
              </a:rPr>
              <a:t> 대체 </a:t>
            </a:r>
            <a:r>
              <a:rPr lang="ko-KR" altLang="en-US" sz="2800">
                <a:solidFill>
                  <a:srgbClr val="323232"/>
                </a:solidFill>
                <a:latin typeface="Pretendard Regular" panose="020B0600000101010101" charset="-127"/>
                <a:ea typeface="Pretendard Regular" panose="020B0600000101010101" charset="-127"/>
                <a:cs typeface="Pretendard Medium" panose="02000603000000020004" pitchFamily="50" charset="-127"/>
              </a:rPr>
              <a:t>가능</a:t>
            </a:r>
            <a:r>
              <a:rPr lang="en-US" altLang="ko-KR" sz="2800">
                <a:solidFill>
                  <a:srgbClr val="323232"/>
                </a:solidFill>
                <a:latin typeface="Pretendard Regular" panose="020B0600000101010101" charset="-127"/>
                <a:ea typeface="Pretendard Regular" panose="020B0600000101010101" charset="-127"/>
                <a:cs typeface="Pretendard Medium" panose="02000603000000020004" pitchFamily="50" charset="-127"/>
              </a:rPr>
              <a:t>)</a:t>
            </a:r>
            <a:br>
              <a:rPr lang="en-US" altLang="ko-KR" sz="2800">
                <a:solidFill>
                  <a:srgbClr val="323232"/>
                </a:solidFill>
                <a:latin typeface="Pretendard Regular" panose="020B0600000101010101" charset="-127"/>
                <a:ea typeface="Pretendard Regular" panose="020B0600000101010101" charset="-127"/>
                <a:cs typeface="Pretendard Medium" panose="02000603000000020004" pitchFamily="50" charset="-127"/>
              </a:rPr>
            </a:br>
            <a:r>
              <a:rPr lang="ko-KR" altLang="en-US" sz="2400">
                <a:latin typeface="Pretendard Bold" panose="020B0600000101010101" charset="-127"/>
                <a:ea typeface="Pretendard Bold" panose="020B0600000101010101" charset="-127"/>
                <a:cs typeface="Pretendard Medium" panose="02000603000000020004" pitchFamily="50" charset="-127"/>
              </a:rPr>
              <a:t>아트 콘셉트에 </a:t>
            </a:r>
            <a:r>
              <a:rPr lang="ko-KR" altLang="en-US" sz="2400" dirty="0">
                <a:latin typeface="Pretendard Bold" panose="020B0600000101010101" charset="-127"/>
                <a:ea typeface="Pretendard Bold" panose="020B0600000101010101" charset="-127"/>
                <a:cs typeface="Pretendard Medium" panose="02000603000000020004" pitchFamily="50" charset="-127"/>
              </a:rPr>
              <a:t>있어서는 아트 분이 편하신 쪽으로 의견을 적극 수용할 예정입니다</a:t>
            </a:r>
            <a:r>
              <a:rPr lang="en-US" altLang="ko-KR" sz="2400" dirty="0">
                <a:latin typeface="Pretendard Bold" panose="020B0600000101010101" charset="-127"/>
                <a:ea typeface="Pretendard Bold" panose="020B0600000101010101" charset="-127"/>
                <a:cs typeface="Pretendard Medium" panose="02000603000000020004" pitchFamily="50" charset="-127"/>
              </a:rPr>
              <a:t>.</a:t>
            </a:r>
            <a:endParaRPr lang="en-US" altLang="ko-KR" sz="2800" dirty="0">
              <a:latin typeface="Pretendard Bold" panose="020B0600000101010101" charset="-127"/>
              <a:ea typeface="Pretendard Bold" panose="020B0600000101010101" charset="-127"/>
              <a:cs typeface="Pretendard Medium" panose="02000603000000020004" pitchFamily="50" charset="-127"/>
            </a:endParaRPr>
          </a:p>
        </p:txBody>
      </p:sp>
      <p:sp>
        <p:nvSpPr>
          <p:cNvPr id="26" name="TextBox 7">
            <a:extLst>
              <a:ext uri="{FF2B5EF4-FFF2-40B4-BE49-F238E27FC236}">
                <a16:creationId xmlns:a16="http://schemas.microsoft.com/office/drawing/2014/main" id="{847D43AE-1F1B-8ABC-5279-A2AC9B447A0C}"/>
              </a:ext>
            </a:extLst>
          </p:cNvPr>
          <p:cNvSpPr txBox="1"/>
          <p:nvPr/>
        </p:nvSpPr>
        <p:spPr>
          <a:xfrm>
            <a:off x="4864100" y="2400300"/>
            <a:ext cx="12001500" cy="520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16199"/>
              </a:lnSpc>
            </a:pPr>
            <a:r>
              <a:rPr lang="ko-KR" altLang="en-US" sz="3000" b="0" i="0" u="none" strike="noStrike" dirty="0">
                <a:solidFill>
                  <a:srgbClr val="000000"/>
                </a:solidFill>
                <a:latin typeface="Pretendard SemiBold" panose="02000703000000020004" charset="-127"/>
                <a:ea typeface="Pretendard SemiBold" panose="02000703000000020004" charset="-127"/>
              </a:rPr>
              <a:t>조금이라도 관심이 있으시다면 편하게 지원해주세요</a:t>
            </a:r>
            <a:r>
              <a:rPr lang="en-US" altLang="ko-KR" sz="3000" b="0" i="0" u="none" strike="noStrike" dirty="0">
                <a:solidFill>
                  <a:srgbClr val="000000"/>
                </a:solidFill>
                <a:latin typeface="Pretendard SemiBold" panose="02000703000000020004" charset="-127"/>
                <a:ea typeface="Pretendard SemiBold" panose="02000703000000020004" charset="-127"/>
              </a:rPr>
              <a:t>!</a:t>
            </a:r>
            <a:endParaRPr lang="en-US" sz="3000" b="0" i="0" u="none" strike="noStrike" dirty="0">
              <a:solidFill>
                <a:schemeClr val="bg1">
                  <a:lumMod val="75000"/>
                </a:schemeClr>
              </a:solidFill>
              <a:latin typeface="Pretendard SemiBold" panose="02000703000000020004" charset="-127"/>
              <a:ea typeface="Pretendard SemiBold" panose="02000703000000020004" charset="-127"/>
            </a:endParaRP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E0992E3D-05F0-BA39-F3B3-DBC4F1C4D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925800" y="9728200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6171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22FBDB-D9F8-0677-10A8-C1D11D1A5C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2">
            <a:extLst>
              <a:ext uri="{FF2B5EF4-FFF2-40B4-BE49-F238E27FC236}">
                <a16:creationId xmlns:a16="http://schemas.microsoft.com/office/drawing/2014/main" id="{3325C80B-3C67-C440-24F3-228A9E4E27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048000" y="1714500"/>
            <a:ext cx="17145000" cy="17145000"/>
          </a:xfrm>
          <a:prstGeom prst="rect">
            <a:avLst/>
          </a:prstGeom>
        </p:spPr>
      </p:pic>
      <p:pic>
        <p:nvPicPr>
          <p:cNvPr id="18" name="Picture 3">
            <a:extLst>
              <a:ext uri="{FF2B5EF4-FFF2-40B4-BE49-F238E27FC236}">
                <a16:creationId xmlns:a16="http://schemas.microsoft.com/office/drawing/2014/main" id="{713D0360-E75E-0623-FDD1-134A6DDCFB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79600" y="-3898900"/>
            <a:ext cx="6667500" cy="6667500"/>
          </a:xfrm>
          <a:prstGeom prst="rect">
            <a:avLst/>
          </a:prstGeom>
        </p:spPr>
      </p:pic>
      <p:sp>
        <p:nvSpPr>
          <p:cNvPr id="19" name="TextBox 7">
            <a:extLst>
              <a:ext uri="{FF2B5EF4-FFF2-40B4-BE49-F238E27FC236}">
                <a16:creationId xmlns:a16="http://schemas.microsoft.com/office/drawing/2014/main" id="{99B0A886-963A-4DF0-824C-A1E22B07CC2D}"/>
              </a:ext>
            </a:extLst>
          </p:cNvPr>
          <p:cNvSpPr txBox="1"/>
          <p:nvPr/>
        </p:nvSpPr>
        <p:spPr>
          <a:xfrm>
            <a:off x="8521700" y="558800"/>
            <a:ext cx="91186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5449"/>
              </a:lnSpc>
            </a:pPr>
            <a:r>
              <a:rPr lang="en-US" sz="1800" b="0" i="0" u="none" strike="noStrike" dirty="0">
                <a:solidFill>
                  <a:srgbClr val="323232">
                    <a:alpha val="80000"/>
                  </a:srgbClr>
                </a:solidFill>
                <a:latin typeface="Pretendard Medium"/>
              </a:rPr>
              <a:t>PANDORA</a:t>
            </a:r>
            <a:r>
              <a:rPr lang="ko-KR" altLang="en-US" sz="1800" b="0" i="0" u="none" strike="noStrike" dirty="0">
                <a:solidFill>
                  <a:srgbClr val="323232">
                    <a:alpha val="80000"/>
                  </a:srgbClr>
                </a:solidFill>
                <a:latin typeface="Pretendard Medium"/>
              </a:rPr>
              <a:t> </a:t>
            </a:r>
            <a:r>
              <a:rPr lang="en-US" altLang="ko-KR" sz="1800" b="0" i="0" u="none" strike="noStrike" dirty="0">
                <a:solidFill>
                  <a:srgbClr val="323232">
                    <a:alpha val="80000"/>
                  </a:srgbClr>
                </a:solidFill>
                <a:latin typeface="Pretendard Medium"/>
              </a:rPr>
              <a:t>CUBE</a:t>
            </a:r>
            <a:endParaRPr lang="en-US" sz="1800" b="0" i="0" u="none" strike="noStrike" dirty="0">
              <a:solidFill>
                <a:srgbClr val="323232">
                  <a:alpha val="80000"/>
                </a:srgbClr>
              </a:solidFill>
              <a:latin typeface="Pretendard Medium"/>
            </a:endParaRPr>
          </a:p>
        </p:txBody>
      </p:sp>
      <p:sp>
        <p:nvSpPr>
          <p:cNvPr id="20" name="TextBox 8">
            <a:extLst>
              <a:ext uri="{FF2B5EF4-FFF2-40B4-BE49-F238E27FC236}">
                <a16:creationId xmlns:a16="http://schemas.microsoft.com/office/drawing/2014/main" id="{0DF30C6D-385A-880C-756C-6F67AF2C9B41}"/>
              </a:ext>
            </a:extLst>
          </p:cNvPr>
          <p:cNvSpPr txBox="1"/>
          <p:nvPr/>
        </p:nvSpPr>
        <p:spPr>
          <a:xfrm>
            <a:off x="1219200" y="9296400"/>
            <a:ext cx="5016500" cy="342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5449"/>
              </a:lnSpc>
            </a:pPr>
            <a:r>
              <a:rPr lang="ko-KR" altLang="en-US" sz="2000" b="0" i="0" u="none" strike="noStrike" spc="100" dirty="0">
                <a:solidFill>
                  <a:srgbClr val="323232"/>
                </a:solidFill>
                <a:ea typeface="Pretendard Medium"/>
              </a:rPr>
              <a:t>판도라큐브 프로그래밍 파트 </a:t>
            </a:r>
            <a:r>
              <a:rPr lang="ko-KR" altLang="en-US" sz="2000" spc="100" dirty="0">
                <a:solidFill>
                  <a:srgbClr val="323232"/>
                </a:solidFill>
                <a:ea typeface="Pretendard Medium"/>
              </a:rPr>
              <a:t>신혜원</a:t>
            </a:r>
            <a:endParaRPr lang="ko-KR" sz="2000" b="0" i="0" u="none" strike="noStrike" spc="100" dirty="0">
              <a:solidFill>
                <a:srgbClr val="323232"/>
              </a:solidFill>
              <a:ea typeface="Pretendard Medium"/>
            </a:endParaRPr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272C40C4-C4E5-1490-4B69-F0DD53A726E6}"/>
              </a:ext>
            </a:extLst>
          </p:cNvPr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9" name="TextBox 9">
            <a:extLst>
              <a:ext uri="{FF2B5EF4-FFF2-40B4-BE49-F238E27FC236}">
                <a16:creationId xmlns:a16="http://schemas.microsoft.com/office/drawing/2014/main" id="{4764C256-8C38-CF61-0297-8E7EBCACB659}"/>
              </a:ext>
            </a:extLst>
          </p:cNvPr>
          <p:cNvSpPr txBox="1"/>
          <p:nvPr/>
        </p:nvSpPr>
        <p:spPr>
          <a:xfrm>
            <a:off x="6915150" y="4559300"/>
            <a:ext cx="4457700" cy="1168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5449"/>
              </a:lnSpc>
            </a:pPr>
            <a:r>
              <a:rPr lang="ko-KR" altLang="en-US" sz="6500" b="0" i="0" u="none" strike="noStrike" dirty="0">
                <a:solidFill>
                  <a:srgbClr val="323232"/>
                </a:solidFill>
                <a:ea typeface="Pretendard SemiBold"/>
              </a:rPr>
              <a:t>감사합니다</a:t>
            </a:r>
            <a:endParaRPr lang="ko-KR" sz="6500" b="0" i="0" u="none" strike="noStrike" dirty="0">
              <a:solidFill>
                <a:srgbClr val="323232"/>
              </a:solidFill>
              <a:ea typeface="Pretendard SemiBold"/>
            </a:endParaRPr>
          </a:p>
        </p:txBody>
      </p:sp>
      <p:pic>
        <p:nvPicPr>
          <p:cNvPr id="16" name="그림 15" descr="폰트, 스크린샷, 그래픽, 로고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EC4CCCFC-17E0-6B0C-BCBD-C5A32121891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266700"/>
            <a:ext cx="2286000" cy="1078993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E34419B-4999-4E92-58D8-4DB367680458}"/>
              </a:ext>
            </a:extLst>
          </p:cNvPr>
          <p:cNvSpPr txBox="1">
            <a:spLocks/>
          </p:cNvSpPr>
          <p:nvPr/>
        </p:nvSpPr>
        <p:spPr>
          <a:xfrm>
            <a:off x="15925800" y="972820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1791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891</TotalTime>
  <Words>701</Words>
  <Application>Microsoft Office PowerPoint</Application>
  <PresentationFormat>사용자 지정</PresentationFormat>
  <Paragraphs>181</Paragraphs>
  <Slides>20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30" baseType="lpstr">
      <vt:lpstr>Pretendard Light</vt:lpstr>
      <vt:lpstr>Baskerville Old Face</vt:lpstr>
      <vt:lpstr>Arial</vt:lpstr>
      <vt:lpstr>맑은 고딕</vt:lpstr>
      <vt:lpstr>Pretendard Bold</vt:lpstr>
      <vt:lpstr>Pretendard Regular</vt:lpstr>
      <vt:lpstr>Pretendard SemiBold</vt:lpstr>
      <vt:lpstr>Calibri</vt:lpstr>
      <vt:lpstr>Pretendard Medium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1016</cp:lastModifiedBy>
  <cp:revision>63</cp:revision>
  <dcterms:created xsi:type="dcterms:W3CDTF">2006-08-16T00:00:00Z</dcterms:created>
  <dcterms:modified xsi:type="dcterms:W3CDTF">2025-07-14T15:21:45Z</dcterms:modified>
</cp:coreProperties>
</file>